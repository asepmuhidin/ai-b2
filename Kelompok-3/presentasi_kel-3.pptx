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charset="1" panose="00000500000000000000"/>
      <p:regular r:id="rId21"/>
    </p:embeddedFont>
    <p:embeddedFont>
      <p:font typeface="Poppins Bold" charset="1" panose="00000800000000000000"/>
      <p:regular r:id="rId22"/>
    </p:embeddedFont>
    <p:embeddedFont>
      <p:font typeface="Alfa Slab One"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786" r="0" b="7786"/>
            <a:stretch>
              <a:fillRect/>
            </a:stretch>
          </p:blipFill>
          <p:spPr>
            <a:xfrm flipH="false" flipV="false">
              <a:off x="0" y="0"/>
              <a:ext cx="24384000" cy="13716000"/>
            </a:xfrm>
            <a:prstGeom prst="rect">
              <a:avLst/>
            </a:prstGeom>
          </p:spPr>
        </p:pic>
      </p:grpSp>
      <p:grpSp>
        <p:nvGrpSpPr>
          <p:cNvPr name="Group 4" id="4"/>
          <p:cNvGrpSpPr/>
          <p:nvPr/>
        </p:nvGrpSpPr>
        <p:grpSpPr>
          <a:xfrm rot="0">
            <a:off x="533869" y="558998"/>
            <a:ext cx="17220262" cy="9169003"/>
            <a:chOff x="0" y="0"/>
            <a:chExt cx="4535378" cy="2414882"/>
          </a:xfrm>
        </p:grpSpPr>
        <p:sp>
          <p:nvSpPr>
            <p:cNvPr name="Freeform 5" id="5"/>
            <p:cNvSpPr/>
            <p:nvPr/>
          </p:nvSpPr>
          <p:spPr>
            <a:xfrm flipH="false" flipV="false" rot="0">
              <a:off x="0" y="0"/>
              <a:ext cx="4535378" cy="2414881"/>
            </a:xfrm>
            <a:custGeom>
              <a:avLst/>
              <a:gdLst/>
              <a:ahLst/>
              <a:cxnLst/>
              <a:rect r="r" b="b" t="t" l="l"/>
              <a:pathLst>
                <a:path h="2414881" w="4535378">
                  <a:moveTo>
                    <a:pt x="22929" y="0"/>
                  </a:moveTo>
                  <a:lnTo>
                    <a:pt x="4512449" y="0"/>
                  </a:lnTo>
                  <a:cubicBezTo>
                    <a:pt x="4518530" y="0"/>
                    <a:pt x="4524362" y="2416"/>
                    <a:pt x="4528662" y="6716"/>
                  </a:cubicBezTo>
                  <a:cubicBezTo>
                    <a:pt x="4532962" y="11016"/>
                    <a:pt x="4535378" y="16848"/>
                    <a:pt x="4535378" y="22929"/>
                  </a:cubicBezTo>
                  <a:lnTo>
                    <a:pt x="4535378" y="2391953"/>
                  </a:lnTo>
                  <a:cubicBezTo>
                    <a:pt x="4535378" y="2398034"/>
                    <a:pt x="4532962" y="2403866"/>
                    <a:pt x="4528662" y="2408166"/>
                  </a:cubicBezTo>
                  <a:cubicBezTo>
                    <a:pt x="4524362" y="2412466"/>
                    <a:pt x="4518530" y="2414881"/>
                    <a:pt x="4512449" y="2414881"/>
                  </a:cubicBezTo>
                  <a:lnTo>
                    <a:pt x="22929" y="2414881"/>
                  </a:lnTo>
                  <a:cubicBezTo>
                    <a:pt x="16848" y="2414881"/>
                    <a:pt x="11016" y="2412466"/>
                    <a:pt x="6716" y="2408166"/>
                  </a:cubicBezTo>
                  <a:cubicBezTo>
                    <a:pt x="2416" y="2403866"/>
                    <a:pt x="0" y="2398034"/>
                    <a:pt x="0" y="2391953"/>
                  </a:cubicBezTo>
                  <a:lnTo>
                    <a:pt x="0" y="22929"/>
                  </a:lnTo>
                  <a:cubicBezTo>
                    <a:pt x="0" y="16848"/>
                    <a:pt x="2416" y="11016"/>
                    <a:pt x="6716" y="6716"/>
                  </a:cubicBezTo>
                  <a:cubicBezTo>
                    <a:pt x="11016" y="2416"/>
                    <a:pt x="16848" y="0"/>
                    <a:pt x="22929" y="0"/>
                  </a:cubicBezTo>
                  <a:close/>
                </a:path>
              </a:pathLst>
            </a:custGeom>
            <a:solidFill>
              <a:srgbClr val="FFFFFF"/>
            </a:solidFill>
          </p:spPr>
        </p:sp>
        <p:sp>
          <p:nvSpPr>
            <p:cNvPr name="TextBox 6" id="6"/>
            <p:cNvSpPr txBox="true"/>
            <p:nvPr/>
          </p:nvSpPr>
          <p:spPr>
            <a:xfrm>
              <a:off x="0" y="-66675"/>
              <a:ext cx="4535378" cy="2481557"/>
            </a:xfrm>
            <a:prstGeom prst="rect">
              <a:avLst/>
            </a:prstGeom>
          </p:spPr>
          <p:txBody>
            <a:bodyPr anchor="ctr" rtlCol="false" tIns="50800" lIns="50800" bIns="50800" rIns="50800"/>
            <a:lstStyle/>
            <a:p>
              <a:pPr algn="ctr">
                <a:lnSpc>
                  <a:spcPts val="3639"/>
                </a:lnSpc>
              </a:pPr>
            </a:p>
          </p:txBody>
        </p:sp>
      </p:grpSp>
      <p:sp>
        <p:nvSpPr>
          <p:cNvPr name="AutoShape 7" id="7"/>
          <p:cNvSpPr/>
          <p:nvPr/>
        </p:nvSpPr>
        <p:spPr>
          <a:xfrm>
            <a:off x="1028700" y="1047750"/>
            <a:ext cx="16230600" cy="0"/>
          </a:xfrm>
          <a:prstGeom prst="line">
            <a:avLst/>
          </a:prstGeom>
          <a:ln cap="flat" w="38100">
            <a:solidFill>
              <a:srgbClr val="737373"/>
            </a:solidFill>
            <a:prstDash val="solid"/>
            <a:headEnd type="none" len="sm" w="sm"/>
            <a:tailEnd type="none" len="sm" w="sm"/>
          </a:ln>
        </p:spPr>
      </p:sp>
      <p:sp>
        <p:nvSpPr>
          <p:cNvPr name="AutoShape 8" id="8"/>
          <p:cNvSpPr/>
          <p:nvPr/>
        </p:nvSpPr>
        <p:spPr>
          <a:xfrm>
            <a:off x="1028700" y="1904405"/>
            <a:ext cx="16230600" cy="0"/>
          </a:xfrm>
          <a:prstGeom prst="line">
            <a:avLst/>
          </a:prstGeom>
          <a:ln cap="flat" w="38100">
            <a:solidFill>
              <a:srgbClr val="737373"/>
            </a:solidFill>
            <a:prstDash val="solid"/>
            <a:headEnd type="none" len="sm" w="sm"/>
            <a:tailEnd type="none" len="sm" w="sm"/>
          </a:ln>
        </p:spPr>
      </p:sp>
      <p:sp>
        <p:nvSpPr>
          <p:cNvPr name="AutoShape 9" id="9"/>
          <p:cNvSpPr/>
          <p:nvPr/>
        </p:nvSpPr>
        <p:spPr>
          <a:xfrm>
            <a:off x="1028700" y="9239250"/>
            <a:ext cx="16230600" cy="0"/>
          </a:xfrm>
          <a:prstGeom prst="line">
            <a:avLst/>
          </a:prstGeom>
          <a:ln cap="flat" w="38100">
            <a:solidFill>
              <a:srgbClr val="737373"/>
            </a:solidFill>
            <a:prstDash val="solid"/>
            <a:headEnd type="none" len="sm" w="sm"/>
            <a:tailEnd type="none" len="sm" w="sm"/>
          </a:ln>
        </p:spPr>
      </p:sp>
      <p:grpSp>
        <p:nvGrpSpPr>
          <p:cNvPr name="Group 10" id="10"/>
          <p:cNvGrpSpPr/>
          <p:nvPr/>
        </p:nvGrpSpPr>
        <p:grpSpPr>
          <a:xfrm rot="0">
            <a:off x="1797212" y="6734372"/>
            <a:ext cx="4776307" cy="2504878"/>
            <a:chOff x="0" y="0"/>
            <a:chExt cx="1257957" cy="659721"/>
          </a:xfrm>
        </p:grpSpPr>
        <p:sp>
          <p:nvSpPr>
            <p:cNvPr name="Freeform 11" id="11"/>
            <p:cNvSpPr/>
            <p:nvPr/>
          </p:nvSpPr>
          <p:spPr>
            <a:xfrm flipH="false" flipV="false" rot="0">
              <a:off x="0" y="0"/>
              <a:ext cx="1257958" cy="659721"/>
            </a:xfrm>
            <a:custGeom>
              <a:avLst/>
              <a:gdLst/>
              <a:ahLst/>
              <a:cxnLst/>
              <a:rect r="r" b="b" t="t" l="l"/>
              <a:pathLst>
                <a:path h="659721" w="1257958">
                  <a:moveTo>
                    <a:pt x="82666" y="0"/>
                  </a:moveTo>
                  <a:lnTo>
                    <a:pt x="1175292" y="0"/>
                  </a:lnTo>
                  <a:cubicBezTo>
                    <a:pt x="1197216" y="0"/>
                    <a:pt x="1218242" y="8709"/>
                    <a:pt x="1233745" y="24212"/>
                  </a:cubicBezTo>
                  <a:cubicBezTo>
                    <a:pt x="1249248" y="39715"/>
                    <a:pt x="1257958" y="60742"/>
                    <a:pt x="1257958" y="82666"/>
                  </a:cubicBezTo>
                  <a:lnTo>
                    <a:pt x="1257958" y="577055"/>
                  </a:lnTo>
                  <a:cubicBezTo>
                    <a:pt x="1257958" y="598979"/>
                    <a:pt x="1249248" y="620006"/>
                    <a:pt x="1233745" y="635509"/>
                  </a:cubicBezTo>
                  <a:cubicBezTo>
                    <a:pt x="1218242" y="651012"/>
                    <a:pt x="1197216" y="659721"/>
                    <a:pt x="1175292" y="659721"/>
                  </a:cubicBezTo>
                  <a:lnTo>
                    <a:pt x="82666" y="659721"/>
                  </a:lnTo>
                  <a:cubicBezTo>
                    <a:pt x="60742" y="659721"/>
                    <a:pt x="39715" y="651012"/>
                    <a:pt x="24212" y="635509"/>
                  </a:cubicBezTo>
                  <a:cubicBezTo>
                    <a:pt x="8709" y="620006"/>
                    <a:pt x="0" y="598979"/>
                    <a:pt x="0" y="577055"/>
                  </a:cubicBezTo>
                  <a:lnTo>
                    <a:pt x="0" y="82666"/>
                  </a:lnTo>
                  <a:cubicBezTo>
                    <a:pt x="0" y="60742"/>
                    <a:pt x="8709" y="39715"/>
                    <a:pt x="24212" y="24212"/>
                  </a:cubicBezTo>
                  <a:cubicBezTo>
                    <a:pt x="39715" y="8709"/>
                    <a:pt x="60742" y="0"/>
                    <a:pt x="82666" y="0"/>
                  </a:cubicBezTo>
                  <a:close/>
                </a:path>
              </a:pathLst>
            </a:custGeom>
            <a:solidFill>
              <a:srgbClr val="D9D9D9"/>
            </a:solidFill>
          </p:spPr>
        </p:sp>
        <p:sp>
          <p:nvSpPr>
            <p:cNvPr name="TextBox 12" id="12"/>
            <p:cNvSpPr txBox="true"/>
            <p:nvPr/>
          </p:nvSpPr>
          <p:spPr>
            <a:xfrm>
              <a:off x="0" y="-38100"/>
              <a:ext cx="1257957" cy="697821"/>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028700" y="1317043"/>
            <a:ext cx="3523480" cy="308610"/>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Judul</a:t>
            </a:r>
          </a:p>
        </p:txBody>
      </p:sp>
      <p:sp>
        <p:nvSpPr>
          <p:cNvPr name="TextBox 14" id="14"/>
          <p:cNvSpPr txBox="true"/>
          <p:nvPr/>
        </p:nvSpPr>
        <p:spPr>
          <a:xfrm rot="0">
            <a:off x="16125255" y="1317043"/>
            <a:ext cx="1134045" cy="308610"/>
          </a:xfrm>
          <a:prstGeom prst="rect">
            <a:avLst/>
          </a:prstGeom>
        </p:spPr>
        <p:txBody>
          <a:bodyPr anchor="t" rtlCol="false" tIns="0" lIns="0" bIns="0" rIns="0">
            <a:spAutoFit/>
          </a:bodyPr>
          <a:lstStyle/>
          <a:p>
            <a:pPr algn="r">
              <a:lnSpc>
                <a:spcPts val="2220"/>
              </a:lnSpc>
            </a:pPr>
            <a:r>
              <a:rPr lang="en-US" sz="2000" b="true">
                <a:solidFill>
                  <a:srgbClr val="5E17EB"/>
                </a:solidFill>
                <a:latin typeface="Poppins Bold"/>
                <a:ea typeface="Poppins Bold"/>
                <a:cs typeface="Poppins Bold"/>
                <a:sym typeface="Poppins Bold"/>
              </a:rPr>
              <a:t>2025</a:t>
            </a:r>
          </a:p>
        </p:txBody>
      </p:sp>
      <p:sp>
        <p:nvSpPr>
          <p:cNvPr name="TextBox 15" id="15"/>
          <p:cNvSpPr txBox="true"/>
          <p:nvPr/>
        </p:nvSpPr>
        <p:spPr>
          <a:xfrm rot="0">
            <a:off x="1720791" y="2701447"/>
            <a:ext cx="14751167" cy="3775913"/>
          </a:xfrm>
          <a:prstGeom prst="rect">
            <a:avLst/>
          </a:prstGeom>
        </p:spPr>
        <p:txBody>
          <a:bodyPr anchor="t" rtlCol="false" tIns="0" lIns="0" bIns="0" rIns="0">
            <a:spAutoFit/>
          </a:bodyPr>
          <a:lstStyle/>
          <a:p>
            <a:pPr algn="l">
              <a:lnSpc>
                <a:spcPts val="7377"/>
              </a:lnSpc>
            </a:pPr>
            <a:r>
              <a:rPr lang="en-US" sz="7684" spc="215">
                <a:solidFill>
                  <a:srgbClr val="5E17EB"/>
                </a:solidFill>
                <a:latin typeface="Alfa Slab One"/>
                <a:ea typeface="Alfa Slab One"/>
                <a:cs typeface="Alfa Slab One"/>
                <a:sym typeface="Alfa Slab One"/>
              </a:rPr>
              <a:t>Deteksi Tingkat Depresi Kerja Karyawan Menggunakan Logika Fuzzy Sugeno </a:t>
            </a:r>
          </a:p>
        </p:txBody>
      </p:sp>
      <p:sp>
        <p:nvSpPr>
          <p:cNvPr name="TextBox 16" id="16"/>
          <p:cNvSpPr txBox="true"/>
          <p:nvPr/>
        </p:nvSpPr>
        <p:spPr>
          <a:xfrm rot="0">
            <a:off x="2293592" y="6807083"/>
            <a:ext cx="4133294" cy="2286635"/>
          </a:xfrm>
          <a:prstGeom prst="rect">
            <a:avLst/>
          </a:prstGeom>
        </p:spPr>
        <p:txBody>
          <a:bodyPr anchor="t" rtlCol="false" tIns="0" lIns="0" bIns="0" rIns="0">
            <a:spAutoFit/>
          </a:bodyPr>
          <a:lstStyle/>
          <a:p>
            <a:pPr algn="l">
              <a:lnSpc>
                <a:spcPts val="3639"/>
              </a:lnSpc>
            </a:pPr>
            <a:r>
              <a:rPr lang="en-US" sz="2599" b="true">
                <a:solidFill>
                  <a:srgbClr val="000000"/>
                </a:solidFill>
                <a:latin typeface="Poppins Bold"/>
                <a:ea typeface="Poppins Bold"/>
                <a:cs typeface="Poppins Bold"/>
                <a:sym typeface="Poppins Bold"/>
              </a:rPr>
              <a:t>ANGGOTA </a:t>
            </a:r>
            <a:r>
              <a:rPr lang="en-US" sz="2599" b="true">
                <a:solidFill>
                  <a:srgbClr val="000000"/>
                </a:solidFill>
                <a:latin typeface="Poppins Bold"/>
                <a:ea typeface="Poppins Bold"/>
                <a:cs typeface="Poppins Bold"/>
                <a:sym typeface="Poppins Bold"/>
              </a:rPr>
              <a:t>: </a:t>
            </a:r>
          </a:p>
          <a:p>
            <a:pPr algn="l">
              <a:lnSpc>
                <a:spcPts val="3639"/>
              </a:lnSpc>
            </a:pPr>
            <a:r>
              <a:rPr lang="en-US" sz="2599" b="true">
                <a:solidFill>
                  <a:srgbClr val="000000"/>
                </a:solidFill>
                <a:latin typeface="Poppins Bold"/>
                <a:ea typeface="Poppins Bold"/>
                <a:cs typeface="Poppins Bold"/>
                <a:sym typeface="Poppins Bold"/>
              </a:rPr>
              <a:t>1.ABDUL GOFAR </a:t>
            </a:r>
          </a:p>
          <a:p>
            <a:pPr algn="l">
              <a:lnSpc>
                <a:spcPts val="3639"/>
              </a:lnSpc>
            </a:pPr>
            <a:r>
              <a:rPr lang="en-US" sz="2599" b="true">
                <a:solidFill>
                  <a:srgbClr val="000000"/>
                </a:solidFill>
                <a:latin typeface="Poppins Bold"/>
                <a:ea typeface="Poppins Bold"/>
                <a:cs typeface="Poppins Bold"/>
                <a:sym typeface="Poppins Bold"/>
              </a:rPr>
              <a:t>2.GHUFRON MALIK </a:t>
            </a:r>
          </a:p>
          <a:p>
            <a:pPr algn="l">
              <a:lnSpc>
                <a:spcPts val="3639"/>
              </a:lnSpc>
            </a:pPr>
            <a:r>
              <a:rPr lang="en-US" sz="2599" b="true">
                <a:solidFill>
                  <a:srgbClr val="000000"/>
                </a:solidFill>
                <a:latin typeface="Poppins Bold"/>
                <a:ea typeface="Poppins Bold"/>
                <a:cs typeface="Poppins Bold"/>
                <a:sym typeface="Poppins Bold"/>
              </a:rPr>
              <a:t>3.KHOLID WAHYUDI</a:t>
            </a:r>
          </a:p>
          <a:p>
            <a:pPr algn="l">
              <a:lnSpc>
                <a:spcPts val="3639"/>
              </a:lnSpc>
            </a:pPr>
            <a:r>
              <a:rPr lang="en-US" sz="2599" b="true">
                <a:solidFill>
                  <a:srgbClr val="000000"/>
                </a:solidFill>
                <a:latin typeface="Poppins Bold"/>
                <a:ea typeface="Poppins Bold"/>
                <a:cs typeface="Poppins Bold"/>
                <a:sym typeface="Poppins Bold"/>
              </a:rPr>
              <a:t>4. FEBRI TRI AREI SAKTI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sp>
        <p:nvSpPr>
          <p:cNvPr name="Freeform 2" id="2"/>
          <p:cNvSpPr/>
          <p:nvPr/>
        </p:nvSpPr>
        <p:spPr>
          <a:xfrm flipH="false" flipV="false" rot="0">
            <a:off x="6861422" y="7678904"/>
            <a:ext cx="379736" cy="379736"/>
          </a:xfrm>
          <a:custGeom>
            <a:avLst/>
            <a:gdLst/>
            <a:ahLst/>
            <a:cxnLst/>
            <a:rect r="r" b="b" t="t" l="l"/>
            <a:pathLst>
              <a:path h="379736" w="379736">
                <a:moveTo>
                  <a:pt x="0" y="0"/>
                </a:moveTo>
                <a:lnTo>
                  <a:pt x="379736" y="0"/>
                </a:lnTo>
                <a:lnTo>
                  <a:pt x="379736" y="379736"/>
                </a:lnTo>
                <a:lnTo>
                  <a:pt x="0" y="3797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61422" y="6322633"/>
            <a:ext cx="379736" cy="379736"/>
          </a:xfrm>
          <a:custGeom>
            <a:avLst/>
            <a:gdLst/>
            <a:ahLst/>
            <a:cxnLst/>
            <a:rect r="r" b="b" t="t" l="l"/>
            <a:pathLst>
              <a:path h="379736" w="379736">
                <a:moveTo>
                  <a:pt x="0" y="0"/>
                </a:moveTo>
                <a:lnTo>
                  <a:pt x="379736" y="0"/>
                </a:lnTo>
                <a:lnTo>
                  <a:pt x="379736" y="379736"/>
                </a:lnTo>
                <a:lnTo>
                  <a:pt x="0" y="379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746619" y="3141736"/>
            <a:ext cx="5014319" cy="5014319"/>
          </a:xfrm>
          <a:custGeom>
            <a:avLst/>
            <a:gdLst/>
            <a:ahLst/>
            <a:cxnLst/>
            <a:rect r="r" b="b" t="t" l="l"/>
            <a:pathLst>
              <a:path h="5014319" w="5014319">
                <a:moveTo>
                  <a:pt x="0" y="0"/>
                </a:moveTo>
                <a:lnTo>
                  <a:pt x="5014319" y="0"/>
                </a:lnTo>
                <a:lnTo>
                  <a:pt x="5014319" y="5014319"/>
                </a:lnTo>
                <a:lnTo>
                  <a:pt x="0" y="5014319"/>
                </a:lnTo>
                <a:lnTo>
                  <a:pt x="0" y="0"/>
                </a:lnTo>
                <a:close/>
              </a:path>
            </a:pathLst>
          </a:custGeom>
          <a:blipFill>
            <a:blip r:embed="rId6"/>
            <a:stretch>
              <a:fillRect l="0" t="0" r="0" b="0"/>
            </a:stretch>
          </a:blipFill>
        </p:spPr>
      </p:sp>
      <p:sp>
        <p:nvSpPr>
          <p:cNvPr name="TextBox 5" id="5"/>
          <p:cNvSpPr txBox="true"/>
          <p:nvPr/>
        </p:nvSpPr>
        <p:spPr>
          <a:xfrm rot="0">
            <a:off x="1667083" y="7583654"/>
            <a:ext cx="4676657" cy="460877"/>
          </a:xfrm>
          <a:prstGeom prst="rect">
            <a:avLst/>
          </a:prstGeom>
        </p:spPr>
        <p:txBody>
          <a:bodyPr anchor="t" rtlCol="false" tIns="0" lIns="0" bIns="0" rIns="0">
            <a:spAutoFit/>
          </a:bodyPr>
          <a:lstStyle/>
          <a:p>
            <a:pPr algn="l">
              <a:lnSpc>
                <a:spcPts val="3600"/>
              </a:lnSpc>
            </a:pPr>
            <a:r>
              <a:rPr lang="en-US" sz="2400" b="true">
                <a:solidFill>
                  <a:srgbClr val="FFFFFF"/>
                </a:solidFill>
                <a:latin typeface="Poppins Bold"/>
                <a:ea typeface="Poppins Bold"/>
                <a:cs typeface="Poppins Bold"/>
                <a:sym typeface="Poppins Bold"/>
              </a:rPr>
              <a:t>KECEPATAN DATA</a:t>
            </a:r>
          </a:p>
        </p:txBody>
      </p:sp>
      <p:sp>
        <p:nvSpPr>
          <p:cNvPr name="TextBox 6" id="6"/>
          <p:cNvSpPr txBox="true"/>
          <p:nvPr/>
        </p:nvSpPr>
        <p:spPr>
          <a:xfrm rot="0">
            <a:off x="1086246" y="2594545"/>
            <a:ext cx="9389787" cy="6003163"/>
          </a:xfrm>
          <a:prstGeom prst="rect">
            <a:avLst/>
          </a:prstGeom>
        </p:spPr>
        <p:txBody>
          <a:bodyPr anchor="t" rtlCol="false" tIns="0" lIns="0" bIns="0" rIns="0">
            <a:spAutoFit/>
          </a:bodyPr>
          <a:lstStyle/>
          <a:p>
            <a:pPr algn="l">
              <a:lnSpc>
                <a:spcPts val="6775"/>
              </a:lnSpc>
            </a:pPr>
            <a:r>
              <a:rPr lang="en-US" sz="5599" spc="156">
                <a:solidFill>
                  <a:srgbClr val="5E17EB"/>
                </a:solidFill>
                <a:latin typeface="Alfa Slab One"/>
                <a:ea typeface="Alfa Slab One"/>
                <a:cs typeface="Alfa Slab One"/>
                <a:sym typeface="Alfa Slab One"/>
              </a:rPr>
              <a:t>Mendeteksi Tingkat Depresi Kerja Karyawan Berdasarkan Patient Health Questionnaire-9 (PHQ-9) dan Indeks Masa Tubuh (IMT)</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7F8"/>
        </a:solidFill>
      </p:bgPr>
    </p:bg>
    <p:spTree>
      <p:nvGrpSpPr>
        <p:cNvPr id="1" name=""/>
        <p:cNvGrpSpPr/>
        <p:nvPr/>
      </p:nvGrpSpPr>
      <p:grpSpPr>
        <a:xfrm>
          <a:off x="0" y="0"/>
          <a:ext cx="0" cy="0"/>
          <a:chOff x="0" y="0"/>
          <a:chExt cx="0" cy="0"/>
        </a:xfrm>
      </p:grpSpPr>
      <p:sp>
        <p:nvSpPr>
          <p:cNvPr name="AutoShape 2" id="2"/>
          <p:cNvSpPr/>
          <p:nvPr/>
        </p:nvSpPr>
        <p:spPr>
          <a:xfrm>
            <a:off x="1028700" y="1047750"/>
            <a:ext cx="16230600" cy="0"/>
          </a:xfrm>
          <a:prstGeom prst="line">
            <a:avLst/>
          </a:prstGeom>
          <a:ln cap="flat" w="38100">
            <a:solidFill>
              <a:srgbClr val="737373"/>
            </a:solidFill>
            <a:prstDash val="solid"/>
            <a:headEnd type="none" len="sm" w="sm"/>
            <a:tailEnd type="none" len="sm" w="sm"/>
          </a:ln>
        </p:spPr>
      </p:sp>
      <p:sp>
        <p:nvSpPr>
          <p:cNvPr name="AutoShape 3" id="3"/>
          <p:cNvSpPr/>
          <p:nvPr/>
        </p:nvSpPr>
        <p:spPr>
          <a:xfrm>
            <a:off x="1028700" y="1904405"/>
            <a:ext cx="16230600" cy="0"/>
          </a:xfrm>
          <a:prstGeom prst="line">
            <a:avLst/>
          </a:prstGeom>
          <a:ln cap="flat" w="38100">
            <a:solidFill>
              <a:srgbClr val="737373"/>
            </a:solidFill>
            <a:prstDash val="solid"/>
            <a:headEnd type="none" len="sm" w="sm"/>
            <a:tailEnd type="none" len="sm" w="sm"/>
          </a:ln>
        </p:spPr>
      </p:sp>
      <p:sp>
        <p:nvSpPr>
          <p:cNvPr name="TextBox 4" id="4"/>
          <p:cNvSpPr txBox="true"/>
          <p:nvPr/>
        </p:nvSpPr>
        <p:spPr>
          <a:xfrm rot="0">
            <a:off x="1028700" y="1317043"/>
            <a:ext cx="3523480" cy="308610"/>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Pengertian</a:t>
            </a:r>
          </a:p>
        </p:txBody>
      </p:sp>
      <p:sp>
        <p:nvSpPr>
          <p:cNvPr name="TextBox 5" id="5"/>
          <p:cNvSpPr txBox="true"/>
          <p:nvPr/>
        </p:nvSpPr>
        <p:spPr>
          <a:xfrm rot="0">
            <a:off x="16125255" y="1317043"/>
            <a:ext cx="1134045" cy="308610"/>
          </a:xfrm>
          <a:prstGeom prst="rect">
            <a:avLst/>
          </a:prstGeom>
        </p:spPr>
        <p:txBody>
          <a:bodyPr anchor="t" rtlCol="false" tIns="0" lIns="0" bIns="0" rIns="0">
            <a:spAutoFit/>
          </a:bodyPr>
          <a:lstStyle/>
          <a:p>
            <a:pPr algn="r">
              <a:lnSpc>
                <a:spcPts val="2220"/>
              </a:lnSpc>
            </a:pPr>
            <a:r>
              <a:rPr lang="en-US" sz="2000" b="true">
                <a:solidFill>
                  <a:srgbClr val="5E17EB"/>
                </a:solidFill>
                <a:latin typeface="Poppins Bold"/>
                <a:ea typeface="Poppins Bold"/>
                <a:cs typeface="Poppins Bold"/>
                <a:sym typeface="Poppins Bold"/>
              </a:rPr>
              <a:t>2025</a:t>
            </a:r>
          </a:p>
        </p:txBody>
      </p:sp>
      <p:sp>
        <p:nvSpPr>
          <p:cNvPr name="TextBox 6" id="6"/>
          <p:cNvSpPr txBox="true"/>
          <p:nvPr/>
        </p:nvSpPr>
        <p:spPr>
          <a:xfrm rot="0">
            <a:off x="1028700" y="4128209"/>
            <a:ext cx="14111012" cy="3202305"/>
          </a:xfrm>
          <a:prstGeom prst="rect">
            <a:avLst/>
          </a:prstGeom>
        </p:spPr>
        <p:txBody>
          <a:bodyPr anchor="t" rtlCol="false" tIns="0" lIns="0" bIns="0" rIns="0">
            <a:spAutoFit/>
          </a:bodyPr>
          <a:lstStyle/>
          <a:p>
            <a:pPr algn="l">
              <a:lnSpc>
                <a:spcPts val="6300"/>
              </a:lnSpc>
            </a:pPr>
            <a:r>
              <a:rPr lang="en-US" sz="4200">
                <a:solidFill>
                  <a:srgbClr val="000000"/>
                </a:solidFill>
                <a:latin typeface="Poppins"/>
                <a:ea typeface="Poppins"/>
                <a:cs typeface="Poppins"/>
                <a:sym typeface="Poppins"/>
              </a:rPr>
              <a:t>Fuzzifikasi adalah proses mengubah nilai input yang tegas (crisp) menjadi himpunan fuzzy. Tujuannya adalah untuk merepresentasikan ketidakpastian dan ketidaktepatan dalam informasi. </a:t>
            </a:r>
          </a:p>
        </p:txBody>
      </p:sp>
      <p:sp>
        <p:nvSpPr>
          <p:cNvPr name="TextBox 7" id="7"/>
          <p:cNvSpPr txBox="true"/>
          <p:nvPr/>
        </p:nvSpPr>
        <p:spPr>
          <a:xfrm rot="0">
            <a:off x="1028700" y="3133799"/>
            <a:ext cx="7352391" cy="899160"/>
          </a:xfrm>
          <a:prstGeom prst="rect">
            <a:avLst/>
          </a:prstGeom>
        </p:spPr>
        <p:txBody>
          <a:bodyPr anchor="t" rtlCol="false" tIns="0" lIns="0" bIns="0" rIns="0">
            <a:spAutoFit/>
          </a:bodyPr>
          <a:lstStyle/>
          <a:p>
            <a:pPr algn="l">
              <a:lnSpc>
                <a:spcPts val="6719"/>
              </a:lnSpc>
            </a:pPr>
            <a:r>
              <a:rPr lang="en-US" sz="6999" spc="195">
                <a:solidFill>
                  <a:srgbClr val="5E17EB"/>
                </a:solidFill>
                <a:latin typeface="Alfa Slab One"/>
                <a:ea typeface="Alfa Slab One"/>
                <a:cs typeface="Alfa Slab One"/>
                <a:sym typeface="Alfa Slab One"/>
              </a:rPr>
              <a:t>Fuzzifikasi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1028700" y="2976948"/>
            <a:ext cx="7401266" cy="3721534"/>
            <a:chOff x="0" y="0"/>
            <a:chExt cx="1949305" cy="980157"/>
          </a:xfrm>
        </p:grpSpPr>
        <p:sp>
          <p:nvSpPr>
            <p:cNvPr name="Freeform 3" id="3"/>
            <p:cNvSpPr/>
            <p:nvPr/>
          </p:nvSpPr>
          <p:spPr>
            <a:xfrm flipH="false" flipV="false" rot="0">
              <a:off x="0" y="0"/>
              <a:ext cx="1949304" cy="980157"/>
            </a:xfrm>
            <a:custGeom>
              <a:avLst/>
              <a:gdLst/>
              <a:ahLst/>
              <a:cxnLst/>
              <a:rect r="r" b="b" t="t" l="l"/>
              <a:pathLst>
                <a:path h="980157" w="1949304">
                  <a:moveTo>
                    <a:pt x="53347" y="0"/>
                  </a:moveTo>
                  <a:lnTo>
                    <a:pt x="1895957" y="0"/>
                  </a:lnTo>
                  <a:cubicBezTo>
                    <a:pt x="1910106" y="0"/>
                    <a:pt x="1923675" y="5621"/>
                    <a:pt x="1933679" y="15625"/>
                  </a:cubicBezTo>
                  <a:cubicBezTo>
                    <a:pt x="1943684" y="25630"/>
                    <a:pt x="1949304" y="39199"/>
                    <a:pt x="1949304" y="53347"/>
                  </a:cubicBezTo>
                  <a:lnTo>
                    <a:pt x="1949304" y="926810"/>
                  </a:lnTo>
                  <a:cubicBezTo>
                    <a:pt x="1949304" y="940958"/>
                    <a:pt x="1943684" y="954528"/>
                    <a:pt x="1933679" y="964532"/>
                  </a:cubicBezTo>
                  <a:cubicBezTo>
                    <a:pt x="1923675" y="974537"/>
                    <a:pt x="1910106" y="980157"/>
                    <a:pt x="1895957" y="980157"/>
                  </a:cubicBezTo>
                  <a:lnTo>
                    <a:pt x="53347" y="980157"/>
                  </a:lnTo>
                  <a:cubicBezTo>
                    <a:pt x="39199" y="980157"/>
                    <a:pt x="25630" y="974537"/>
                    <a:pt x="15625" y="964532"/>
                  </a:cubicBezTo>
                  <a:cubicBezTo>
                    <a:pt x="5621" y="954528"/>
                    <a:pt x="0" y="940958"/>
                    <a:pt x="0" y="926810"/>
                  </a:cubicBezTo>
                  <a:lnTo>
                    <a:pt x="0" y="53347"/>
                  </a:lnTo>
                  <a:cubicBezTo>
                    <a:pt x="0" y="39199"/>
                    <a:pt x="5621" y="25630"/>
                    <a:pt x="15625" y="15625"/>
                  </a:cubicBezTo>
                  <a:cubicBezTo>
                    <a:pt x="25630" y="5621"/>
                    <a:pt x="39199" y="0"/>
                    <a:pt x="53347" y="0"/>
                  </a:cubicBezTo>
                  <a:close/>
                </a:path>
              </a:pathLst>
            </a:custGeom>
            <a:solidFill>
              <a:srgbClr val="5E17EB"/>
            </a:solidFill>
          </p:spPr>
        </p:sp>
        <p:sp>
          <p:nvSpPr>
            <p:cNvPr name="TextBox 4" id="4"/>
            <p:cNvSpPr txBox="true"/>
            <p:nvPr/>
          </p:nvSpPr>
          <p:spPr>
            <a:xfrm>
              <a:off x="0" y="-9525"/>
              <a:ext cx="1949305" cy="989682"/>
            </a:xfrm>
            <a:prstGeom prst="rect">
              <a:avLst/>
            </a:prstGeom>
          </p:spPr>
          <p:txBody>
            <a:bodyPr anchor="ctr" rtlCol="false" tIns="50800" lIns="50800" bIns="50800" rIns="50800"/>
            <a:lstStyle/>
            <a:p>
              <a:pPr algn="ctr">
                <a:lnSpc>
                  <a:spcPts val="2220"/>
                </a:lnSpc>
              </a:pPr>
            </a:p>
          </p:txBody>
        </p:sp>
      </p:grpSp>
      <p:sp>
        <p:nvSpPr>
          <p:cNvPr name="Freeform 5" id="5"/>
          <p:cNvSpPr/>
          <p:nvPr/>
        </p:nvSpPr>
        <p:spPr>
          <a:xfrm flipH="false" flipV="false" rot="0">
            <a:off x="9295428" y="3340329"/>
            <a:ext cx="8278405" cy="2994772"/>
          </a:xfrm>
          <a:custGeom>
            <a:avLst/>
            <a:gdLst/>
            <a:ahLst/>
            <a:cxnLst/>
            <a:rect r="r" b="b" t="t" l="l"/>
            <a:pathLst>
              <a:path h="2994772" w="8278405">
                <a:moveTo>
                  <a:pt x="0" y="0"/>
                </a:moveTo>
                <a:lnTo>
                  <a:pt x="8278405" y="0"/>
                </a:lnTo>
                <a:lnTo>
                  <a:pt x="8278405" y="2994772"/>
                </a:lnTo>
                <a:lnTo>
                  <a:pt x="0" y="2994772"/>
                </a:lnTo>
                <a:lnTo>
                  <a:pt x="0" y="0"/>
                </a:lnTo>
                <a:close/>
              </a:path>
            </a:pathLst>
          </a:custGeom>
          <a:blipFill>
            <a:blip r:embed="rId2"/>
            <a:stretch>
              <a:fillRect l="0" t="0" r="0" b="0"/>
            </a:stretch>
          </a:blipFill>
        </p:spPr>
      </p:sp>
      <p:grpSp>
        <p:nvGrpSpPr>
          <p:cNvPr name="Group 6" id="6"/>
          <p:cNvGrpSpPr/>
          <p:nvPr/>
        </p:nvGrpSpPr>
        <p:grpSpPr>
          <a:xfrm rot="0">
            <a:off x="1028700" y="7516417"/>
            <a:ext cx="7401266" cy="1922858"/>
            <a:chOff x="0" y="0"/>
            <a:chExt cx="1949305" cy="506432"/>
          </a:xfrm>
        </p:grpSpPr>
        <p:sp>
          <p:nvSpPr>
            <p:cNvPr name="Freeform 7" id="7"/>
            <p:cNvSpPr/>
            <p:nvPr/>
          </p:nvSpPr>
          <p:spPr>
            <a:xfrm flipH="false" flipV="false" rot="0">
              <a:off x="0" y="0"/>
              <a:ext cx="1949304" cy="506432"/>
            </a:xfrm>
            <a:custGeom>
              <a:avLst/>
              <a:gdLst/>
              <a:ahLst/>
              <a:cxnLst/>
              <a:rect r="r" b="b" t="t" l="l"/>
              <a:pathLst>
                <a:path h="506432" w="1949304">
                  <a:moveTo>
                    <a:pt x="53347" y="0"/>
                  </a:moveTo>
                  <a:lnTo>
                    <a:pt x="1895957" y="0"/>
                  </a:lnTo>
                  <a:cubicBezTo>
                    <a:pt x="1910106" y="0"/>
                    <a:pt x="1923675" y="5621"/>
                    <a:pt x="1933679" y="15625"/>
                  </a:cubicBezTo>
                  <a:cubicBezTo>
                    <a:pt x="1943684" y="25630"/>
                    <a:pt x="1949304" y="39199"/>
                    <a:pt x="1949304" y="53347"/>
                  </a:cubicBezTo>
                  <a:lnTo>
                    <a:pt x="1949304" y="453084"/>
                  </a:lnTo>
                  <a:cubicBezTo>
                    <a:pt x="1949304" y="467233"/>
                    <a:pt x="1943684" y="480802"/>
                    <a:pt x="1933679" y="490807"/>
                  </a:cubicBezTo>
                  <a:cubicBezTo>
                    <a:pt x="1923675" y="500811"/>
                    <a:pt x="1910106" y="506432"/>
                    <a:pt x="1895957" y="506432"/>
                  </a:cubicBezTo>
                  <a:lnTo>
                    <a:pt x="53347" y="506432"/>
                  </a:lnTo>
                  <a:cubicBezTo>
                    <a:pt x="39199" y="506432"/>
                    <a:pt x="25630" y="500811"/>
                    <a:pt x="15625" y="490807"/>
                  </a:cubicBezTo>
                  <a:cubicBezTo>
                    <a:pt x="5621" y="480802"/>
                    <a:pt x="0" y="467233"/>
                    <a:pt x="0" y="453084"/>
                  </a:cubicBezTo>
                  <a:lnTo>
                    <a:pt x="0" y="53347"/>
                  </a:lnTo>
                  <a:cubicBezTo>
                    <a:pt x="0" y="39199"/>
                    <a:pt x="5621" y="25630"/>
                    <a:pt x="15625" y="15625"/>
                  </a:cubicBezTo>
                  <a:cubicBezTo>
                    <a:pt x="25630" y="5621"/>
                    <a:pt x="39199" y="0"/>
                    <a:pt x="53347" y="0"/>
                  </a:cubicBezTo>
                  <a:close/>
                </a:path>
              </a:pathLst>
            </a:custGeom>
            <a:solidFill>
              <a:srgbClr val="5E17EB"/>
            </a:solidFill>
          </p:spPr>
        </p:sp>
        <p:sp>
          <p:nvSpPr>
            <p:cNvPr name="TextBox 8" id="8"/>
            <p:cNvSpPr txBox="true"/>
            <p:nvPr/>
          </p:nvSpPr>
          <p:spPr>
            <a:xfrm>
              <a:off x="0" y="-9525"/>
              <a:ext cx="1949305" cy="515957"/>
            </a:xfrm>
            <a:prstGeom prst="rect">
              <a:avLst/>
            </a:prstGeom>
          </p:spPr>
          <p:txBody>
            <a:bodyPr anchor="ctr" rtlCol="false" tIns="50800" lIns="50800" bIns="50800" rIns="50800"/>
            <a:lstStyle/>
            <a:p>
              <a:pPr algn="ctr">
                <a:lnSpc>
                  <a:spcPts val="2220"/>
                </a:lnSpc>
              </a:pPr>
            </a:p>
          </p:txBody>
        </p:sp>
      </p:grpSp>
      <p:sp>
        <p:nvSpPr>
          <p:cNvPr name="Freeform 9" id="9"/>
          <p:cNvSpPr/>
          <p:nvPr/>
        </p:nvSpPr>
        <p:spPr>
          <a:xfrm flipH="false" flipV="false" rot="0">
            <a:off x="9958231" y="7740024"/>
            <a:ext cx="6425561" cy="1518276"/>
          </a:xfrm>
          <a:custGeom>
            <a:avLst/>
            <a:gdLst/>
            <a:ahLst/>
            <a:cxnLst/>
            <a:rect r="r" b="b" t="t" l="l"/>
            <a:pathLst>
              <a:path h="1518276" w="6425561">
                <a:moveTo>
                  <a:pt x="0" y="0"/>
                </a:moveTo>
                <a:lnTo>
                  <a:pt x="6425562" y="0"/>
                </a:lnTo>
                <a:lnTo>
                  <a:pt x="6425562" y="1518276"/>
                </a:lnTo>
                <a:lnTo>
                  <a:pt x="0" y="1518276"/>
                </a:lnTo>
                <a:lnTo>
                  <a:pt x="0" y="0"/>
                </a:lnTo>
                <a:close/>
              </a:path>
            </a:pathLst>
          </a:custGeom>
          <a:blipFill>
            <a:blip r:embed="rId3"/>
            <a:stretch>
              <a:fillRect l="0" t="0" r="0" b="0"/>
            </a:stretch>
          </a:blipFill>
        </p:spPr>
      </p:sp>
      <p:sp>
        <p:nvSpPr>
          <p:cNvPr name="TextBox 10" id="10"/>
          <p:cNvSpPr txBox="true"/>
          <p:nvPr/>
        </p:nvSpPr>
        <p:spPr>
          <a:xfrm rot="0">
            <a:off x="1463191" y="3199026"/>
            <a:ext cx="6446888" cy="3128095"/>
          </a:xfrm>
          <a:prstGeom prst="rect">
            <a:avLst/>
          </a:prstGeom>
        </p:spPr>
        <p:txBody>
          <a:bodyPr anchor="t" rtlCol="false" tIns="0" lIns="0" bIns="0" rIns="0">
            <a:spAutoFit/>
          </a:bodyPr>
          <a:lstStyle/>
          <a:p>
            <a:pPr algn="just">
              <a:lnSpc>
                <a:spcPts val="3596"/>
              </a:lnSpc>
            </a:pPr>
            <a:r>
              <a:rPr lang="en-US" sz="2397">
                <a:solidFill>
                  <a:srgbClr val="FFFFFF"/>
                </a:solidFill>
                <a:latin typeface="Poppins"/>
                <a:ea typeface="Poppins"/>
                <a:cs typeface="Poppins"/>
                <a:sym typeface="Poppins"/>
              </a:rPr>
              <a:t>Indeks massa tubuh atau yang biasa disingkat dengan IMT merupakan pengukuran yang digunakan untuk mengevaluasi kelebihan dan juga kekurangan berat badan seseorang. Tabel 1 mencantumkan lima kondisi yang memberikan nilai IMT (Rasyid, 2021). </a:t>
            </a:r>
          </a:p>
        </p:txBody>
      </p:sp>
      <p:sp>
        <p:nvSpPr>
          <p:cNvPr name="TextBox 11" id="11"/>
          <p:cNvSpPr txBox="true"/>
          <p:nvPr/>
        </p:nvSpPr>
        <p:spPr>
          <a:xfrm rot="0">
            <a:off x="1463191" y="7725967"/>
            <a:ext cx="6446888" cy="1337395"/>
          </a:xfrm>
          <a:prstGeom prst="rect">
            <a:avLst/>
          </a:prstGeom>
        </p:spPr>
        <p:txBody>
          <a:bodyPr anchor="t" rtlCol="false" tIns="0" lIns="0" bIns="0" rIns="0">
            <a:spAutoFit/>
          </a:bodyPr>
          <a:lstStyle/>
          <a:p>
            <a:pPr algn="just">
              <a:lnSpc>
                <a:spcPts val="3596"/>
              </a:lnSpc>
            </a:pPr>
            <a:r>
              <a:rPr lang="en-US" sz="2397">
                <a:solidFill>
                  <a:srgbClr val="FFFFFF"/>
                </a:solidFill>
                <a:latin typeface="Poppins"/>
                <a:ea typeface="Poppins"/>
                <a:cs typeface="Poppins"/>
                <a:sym typeface="Poppins"/>
              </a:rPr>
              <a:t>Nilai pada tabel didapat berdasarkan pada perhitungan IMT dilakukan melalui persamaan: </a:t>
            </a:r>
          </a:p>
        </p:txBody>
      </p:sp>
      <p:sp>
        <p:nvSpPr>
          <p:cNvPr name="TextBox 12" id="12"/>
          <p:cNvSpPr txBox="true"/>
          <p:nvPr/>
        </p:nvSpPr>
        <p:spPr>
          <a:xfrm rot="0">
            <a:off x="877272" y="767226"/>
            <a:ext cx="14015220" cy="547116"/>
          </a:xfrm>
          <a:prstGeom prst="rect">
            <a:avLst/>
          </a:prstGeom>
        </p:spPr>
        <p:txBody>
          <a:bodyPr anchor="t" rtlCol="false" tIns="0" lIns="0" bIns="0" rIns="0">
            <a:spAutoFit/>
          </a:bodyPr>
          <a:lstStyle/>
          <a:p>
            <a:pPr algn="l">
              <a:lnSpc>
                <a:spcPts val="4032"/>
              </a:lnSpc>
            </a:pPr>
            <a:r>
              <a:rPr lang="en-US" sz="4200" spc="117">
                <a:solidFill>
                  <a:srgbClr val="5E17EB"/>
                </a:solidFill>
                <a:latin typeface="Alfa Slab One"/>
                <a:ea typeface="Alfa Slab One"/>
                <a:cs typeface="Alfa Slab One"/>
                <a:sym typeface="Alfa Slab One"/>
              </a:rPr>
              <a:t>Variabel Indeks Massa Tubuh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877272" y="3159160"/>
            <a:ext cx="7763403" cy="4487982"/>
            <a:chOff x="0" y="0"/>
            <a:chExt cx="2044682" cy="1182020"/>
          </a:xfrm>
        </p:grpSpPr>
        <p:sp>
          <p:nvSpPr>
            <p:cNvPr name="Freeform 3" id="3"/>
            <p:cNvSpPr/>
            <p:nvPr/>
          </p:nvSpPr>
          <p:spPr>
            <a:xfrm flipH="false" flipV="false" rot="0">
              <a:off x="0" y="0"/>
              <a:ext cx="2044682" cy="1182020"/>
            </a:xfrm>
            <a:custGeom>
              <a:avLst/>
              <a:gdLst/>
              <a:ahLst/>
              <a:cxnLst/>
              <a:rect r="r" b="b" t="t" l="l"/>
              <a:pathLst>
                <a:path h="1182020" w="2044682">
                  <a:moveTo>
                    <a:pt x="50859" y="0"/>
                  </a:moveTo>
                  <a:lnTo>
                    <a:pt x="1993823" y="0"/>
                  </a:lnTo>
                  <a:cubicBezTo>
                    <a:pt x="2021912" y="0"/>
                    <a:pt x="2044682" y="22770"/>
                    <a:pt x="2044682" y="50859"/>
                  </a:cubicBezTo>
                  <a:lnTo>
                    <a:pt x="2044682" y="1131161"/>
                  </a:lnTo>
                  <a:cubicBezTo>
                    <a:pt x="2044682" y="1159250"/>
                    <a:pt x="2021912" y="1182020"/>
                    <a:pt x="1993823" y="1182020"/>
                  </a:cubicBezTo>
                  <a:lnTo>
                    <a:pt x="50859" y="1182020"/>
                  </a:lnTo>
                  <a:cubicBezTo>
                    <a:pt x="22770" y="1182020"/>
                    <a:pt x="0" y="1159250"/>
                    <a:pt x="0" y="1131161"/>
                  </a:cubicBezTo>
                  <a:lnTo>
                    <a:pt x="0" y="50859"/>
                  </a:lnTo>
                  <a:cubicBezTo>
                    <a:pt x="0" y="22770"/>
                    <a:pt x="22770" y="0"/>
                    <a:pt x="50859" y="0"/>
                  </a:cubicBezTo>
                  <a:close/>
                </a:path>
              </a:pathLst>
            </a:custGeom>
            <a:solidFill>
              <a:srgbClr val="5E17EB"/>
            </a:solidFill>
          </p:spPr>
        </p:sp>
        <p:sp>
          <p:nvSpPr>
            <p:cNvPr name="TextBox 4" id="4"/>
            <p:cNvSpPr txBox="true"/>
            <p:nvPr/>
          </p:nvSpPr>
          <p:spPr>
            <a:xfrm>
              <a:off x="0" y="-9525"/>
              <a:ext cx="2044682" cy="1191545"/>
            </a:xfrm>
            <a:prstGeom prst="rect">
              <a:avLst/>
            </a:prstGeom>
          </p:spPr>
          <p:txBody>
            <a:bodyPr anchor="ctr" rtlCol="false" tIns="50800" lIns="50800" bIns="50800" rIns="50800"/>
            <a:lstStyle/>
            <a:p>
              <a:pPr algn="ctr">
                <a:lnSpc>
                  <a:spcPts val="2220"/>
                </a:lnSpc>
              </a:pPr>
            </a:p>
          </p:txBody>
        </p:sp>
      </p:grpSp>
      <p:grpSp>
        <p:nvGrpSpPr>
          <p:cNvPr name="Group 5" id="5"/>
          <p:cNvGrpSpPr/>
          <p:nvPr/>
        </p:nvGrpSpPr>
        <p:grpSpPr>
          <a:xfrm rot="0">
            <a:off x="13989694" y="203169"/>
            <a:ext cx="3785139" cy="9880662"/>
            <a:chOff x="0" y="0"/>
            <a:chExt cx="5046852" cy="13174216"/>
          </a:xfrm>
        </p:grpSpPr>
        <p:sp>
          <p:nvSpPr>
            <p:cNvPr name="Freeform 6" id="6"/>
            <p:cNvSpPr/>
            <p:nvPr/>
          </p:nvSpPr>
          <p:spPr>
            <a:xfrm flipH="false" flipV="false" rot="0">
              <a:off x="0" y="0"/>
              <a:ext cx="5046852" cy="6165143"/>
            </a:xfrm>
            <a:custGeom>
              <a:avLst/>
              <a:gdLst/>
              <a:ahLst/>
              <a:cxnLst/>
              <a:rect r="r" b="b" t="t" l="l"/>
              <a:pathLst>
                <a:path h="6165143" w="5046852">
                  <a:moveTo>
                    <a:pt x="0" y="0"/>
                  </a:moveTo>
                  <a:lnTo>
                    <a:pt x="5046852" y="0"/>
                  </a:lnTo>
                  <a:lnTo>
                    <a:pt x="5046852" y="6165143"/>
                  </a:lnTo>
                  <a:lnTo>
                    <a:pt x="0" y="6165143"/>
                  </a:lnTo>
                  <a:lnTo>
                    <a:pt x="0" y="0"/>
                  </a:lnTo>
                  <a:close/>
                </a:path>
              </a:pathLst>
            </a:custGeom>
            <a:blipFill>
              <a:blip r:embed="rId2"/>
              <a:stretch>
                <a:fillRect l="-96" t="0" r="0" b="-2847"/>
              </a:stretch>
            </a:blipFill>
          </p:spPr>
        </p:sp>
        <p:sp>
          <p:nvSpPr>
            <p:cNvPr name="Freeform 7" id="7"/>
            <p:cNvSpPr/>
            <p:nvPr/>
          </p:nvSpPr>
          <p:spPr>
            <a:xfrm flipH="false" flipV="false" rot="0">
              <a:off x="19606" y="6114180"/>
              <a:ext cx="4977635" cy="7060036"/>
            </a:xfrm>
            <a:custGeom>
              <a:avLst/>
              <a:gdLst/>
              <a:ahLst/>
              <a:cxnLst/>
              <a:rect r="r" b="b" t="t" l="l"/>
              <a:pathLst>
                <a:path h="7060036" w="4977635">
                  <a:moveTo>
                    <a:pt x="0" y="0"/>
                  </a:moveTo>
                  <a:lnTo>
                    <a:pt x="4977635" y="0"/>
                  </a:lnTo>
                  <a:lnTo>
                    <a:pt x="4977635" y="7060036"/>
                  </a:lnTo>
                  <a:lnTo>
                    <a:pt x="0" y="7060036"/>
                  </a:lnTo>
                  <a:lnTo>
                    <a:pt x="0" y="0"/>
                  </a:lnTo>
                  <a:close/>
                </a:path>
              </a:pathLst>
            </a:custGeom>
            <a:blipFill>
              <a:blip r:embed="rId3"/>
              <a:stretch>
                <a:fillRect l="-2230" t="-4704" r="0" b="0"/>
              </a:stretch>
            </a:blipFill>
          </p:spPr>
        </p:sp>
      </p:grpSp>
      <p:sp>
        <p:nvSpPr>
          <p:cNvPr name="Freeform 8" id="8"/>
          <p:cNvSpPr/>
          <p:nvPr/>
        </p:nvSpPr>
        <p:spPr>
          <a:xfrm flipH="false" flipV="false" rot="0">
            <a:off x="9144000" y="4188798"/>
            <a:ext cx="4654110" cy="3458344"/>
          </a:xfrm>
          <a:custGeom>
            <a:avLst/>
            <a:gdLst/>
            <a:ahLst/>
            <a:cxnLst/>
            <a:rect r="r" b="b" t="t" l="l"/>
            <a:pathLst>
              <a:path h="3458344" w="4654110">
                <a:moveTo>
                  <a:pt x="0" y="0"/>
                </a:moveTo>
                <a:lnTo>
                  <a:pt x="4654110" y="0"/>
                </a:lnTo>
                <a:lnTo>
                  <a:pt x="4654110" y="3458343"/>
                </a:lnTo>
                <a:lnTo>
                  <a:pt x="0" y="3458343"/>
                </a:lnTo>
                <a:lnTo>
                  <a:pt x="0" y="0"/>
                </a:lnTo>
                <a:close/>
              </a:path>
            </a:pathLst>
          </a:custGeom>
          <a:blipFill>
            <a:blip r:embed="rId4"/>
            <a:stretch>
              <a:fillRect l="0" t="0" r="0" b="0"/>
            </a:stretch>
          </a:blipFill>
        </p:spPr>
      </p:sp>
      <p:sp>
        <p:nvSpPr>
          <p:cNvPr name="TextBox 9" id="9"/>
          <p:cNvSpPr txBox="true"/>
          <p:nvPr/>
        </p:nvSpPr>
        <p:spPr>
          <a:xfrm rot="0">
            <a:off x="1186845" y="3528531"/>
            <a:ext cx="7144257" cy="4118610"/>
          </a:xfrm>
          <a:prstGeom prst="rect">
            <a:avLst/>
          </a:prstGeom>
        </p:spPr>
        <p:txBody>
          <a:bodyPr anchor="t" rtlCol="false" tIns="0" lIns="0" bIns="0" rIns="0">
            <a:spAutoFit/>
          </a:bodyPr>
          <a:lstStyle/>
          <a:p>
            <a:pPr algn="just">
              <a:lnSpc>
                <a:spcPts val="3600"/>
              </a:lnSpc>
            </a:pPr>
            <a:r>
              <a:rPr lang="en-US" sz="2400">
                <a:solidFill>
                  <a:srgbClr val="FFFFFF"/>
                </a:solidFill>
                <a:latin typeface="Poppins"/>
                <a:ea typeface="Poppins"/>
                <a:cs typeface="Poppins"/>
                <a:sym typeface="Poppins"/>
              </a:rPr>
              <a:t>Patient Health Questionnaire-9 yang biasa</a:t>
            </a:r>
          </a:p>
          <a:p>
            <a:pPr algn="just">
              <a:lnSpc>
                <a:spcPts val="3600"/>
              </a:lnSpc>
            </a:pPr>
            <a:r>
              <a:rPr lang="en-US" sz="2400">
                <a:solidFill>
                  <a:srgbClr val="FFFFFF"/>
                </a:solidFill>
                <a:latin typeface="Poppins"/>
                <a:ea typeface="Poppins"/>
                <a:cs typeface="Poppins"/>
                <a:sym typeface="Poppins"/>
              </a:rPr>
              <a:t>disingkat PHQ-9 adalah sekelompok pertanyaan yang digunakan sebagai skrining awal untuk menentukan tingkat keparahan depresi pada seseorang. Kuesioner ini dikembangkan pada tahun 1999 oleh Dr. Kurt Kroenke dan rekan-rekannya di Universitas Columbia.</a:t>
            </a:r>
          </a:p>
          <a:p>
            <a:pPr algn="just">
              <a:lnSpc>
                <a:spcPts val="3600"/>
              </a:lnSpc>
            </a:pPr>
          </a:p>
        </p:txBody>
      </p:sp>
      <p:sp>
        <p:nvSpPr>
          <p:cNvPr name="TextBox 10" id="10"/>
          <p:cNvSpPr txBox="true"/>
          <p:nvPr/>
        </p:nvSpPr>
        <p:spPr>
          <a:xfrm rot="0">
            <a:off x="877272" y="767226"/>
            <a:ext cx="12482012" cy="547116"/>
          </a:xfrm>
          <a:prstGeom prst="rect">
            <a:avLst/>
          </a:prstGeom>
        </p:spPr>
        <p:txBody>
          <a:bodyPr anchor="t" rtlCol="false" tIns="0" lIns="0" bIns="0" rIns="0">
            <a:spAutoFit/>
          </a:bodyPr>
          <a:lstStyle/>
          <a:p>
            <a:pPr algn="l">
              <a:lnSpc>
                <a:spcPts val="4032"/>
              </a:lnSpc>
            </a:pPr>
            <a:r>
              <a:rPr lang="en-US" sz="4200" spc="117">
                <a:solidFill>
                  <a:srgbClr val="5E17EB"/>
                </a:solidFill>
                <a:latin typeface="Alfa Slab One"/>
                <a:ea typeface="Alfa Slab One"/>
                <a:cs typeface="Alfa Slab One"/>
                <a:sym typeface="Alfa Slab One"/>
              </a:rPr>
              <a:t>Variabel Patient Health Questionnaire-9</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sp>
        <p:nvSpPr>
          <p:cNvPr name="AutoShape 2" id="2"/>
          <p:cNvSpPr/>
          <p:nvPr/>
        </p:nvSpPr>
        <p:spPr>
          <a:xfrm>
            <a:off x="1028700" y="1047750"/>
            <a:ext cx="16230600" cy="0"/>
          </a:xfrm>
          <a:prstGeom prst="line">
            <a:avLst/>
          </a:prstGeom>
          <a:ln cap="flat" w="38100">
            <a:solidFill>
              <a:srgbClr val="737373"/>
            </a:solidFill>
            <a:prstDash val="solid"/>
            <a:headEnd type="none" len="sm" w="sm"/>
            <a:tailEnd type="none" len="sm" w="sm"/>
          </a:ln>
        </p:spPr>
      </p:sp>
      <p:sp>
        <p:nvSpPr>
          <p:cNvPr name="AutoShape 3" id="3"/>
          <p:cNvSpPr/>
          <p:nvPr/>
        </p:nvSpPr>
        <p:spPr>
          <a:xfrm>
            <a:off x="1028700" y="1904405"/>
            <a:ext cx="16230600" cy="0"/>
          </a:xfrm>
          <a:prstGeom prst="line">
            <a:avLst/>
          </a:prstGeom>
          <a:ln cap="flat" w="38100">
            <a:solidFill>
              <a:srgbClr val="737373"/>
            </a:solidFill>
            <a:prstDash val="solid"/>
            <a:headEnd type="none" len="sm" w="sm"/>
            <a:tailEnd type="none" len="sm" w="sm"/>
          </a:ln>
        </p:spPr>
      </p:sp>
      <p:sp>
        <p:nvSpPr>
          <p:cNvPr name="Freeform 4" id="4"/>
          <p:cNvSpPr/>
          <p:nvPr/>
        </p:nvSpPr>
        <p:spPr>
          <a:xfrm flipH="false" flipV="false" rot="0">
            <a:off x="9144000" y="3180869"/>
            <a:ext cx="8115300" cy="5942370"/>
          </a:xfrm>
          <a:custGeom>
            <a:avLst/>
            <a:gdLst/>
            <a:ahLst/>
            <a:cxnLst/>
            <a:rect r="r" b="b" t="t" l="l"/>
            <a:pathLst>
              <a:path h="5942370" w="8115300">
                <a:moveTo>
                  <a:pt x="0" y="0"/>
                </a:moveTo>
                <a:lnTo>
                  <a:pt x="8115300" y="0"/>
                </a:lnTo>
                <a:lnTo>
                  <a:pt x="8115300" y="5942371"/>
                </a:lnTo>
                <a:lnTo>
                  <a:pt x="0" y="5942371"/>
                </a:lnTo>
                <a:lnTo>
                  <a:pt x="0" y="0"/>
                </a:lnTo>
                <a:close/>
              </a:path>
            </a:pathLst>
          </a:custGeom>
          <a:blipFill>
            <a:blip r:embed="rId2"/>
            <a:stretch>
              <a:fillRect l="0" t="-9470" r="0" b="0"/>
            </a:stretch>
          </a:blipFill>
        </p:spPr>
      </p:sp>
      <p:sp>
        <p:nvSpPr>
          <p:cNvPr name="TextBox 5" id="5"/>
          <p:cNvSpPr txBox="true"/>
          <p:nvPr/>
        </p:nvSpPr>
        <p:spPr>
          <a:xfrm rot="0">
            <a:off x="1028700" y="1317043"/>
            <a:ext cx="3523480" cy="308610"/>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Variable Input</a:t>
            </a:r>
          </a:p>
        </p:txBody>
      </p:sp>
      <p:sp>
        <p:nvSpPr>
          <p:cNvPr name="TextBox 6" id="6"/>
          <p:cNvSpPr txBox="true"/>
          <p:nvPr/>
        </p:nvSpPr>
        <p:spPr>
          <a:xfrm rot="0">
            <a:off x="16125255" y="1317043"/>
            <a:ext cx="1134045" cy="308610"/>
          </a:xfrm>
          <a:prstGeom prst="rect">
            <a:avLst/>
          </a:prstGeom>
        </p:spPr>
        <p:txBody>
          <a:bodyPr anchor="t" rtlCol="false" tIns="0" lIns="0" bIns="0" rIns="0">
            <a:spAutoFit/>
          </a:bodyPr>
          <a:lstStyle/>
          <a:p>
            <a:pPr algn="r">
              <a:lnSpc>
                <a:spcPts val="2220"/>
              </a:lnSpc>
            </a:pPr>
            <a:r>
              <a:rPr lang="en-US" sz="2000" b="true">
                <a:solidFill>
                  <a:srgbClr val="5E17EB"/>
                </a:solidFill>
                <a:latin typeface="Poppins Bold"/>
                <a:ea typeface="Poppins Bold"/>
                <a:cs typeface="Poppins Bold"/>
                <a:sym typeface="Poppins Bold"/>
              </a:rPr>
              <a:t>2025</a:t>
            </a:r>
          </a:p>
        </p:txBody>
      </p:sp>
      <p:sp>
        <p:nvSpPr>
          <p:cNvPr name="TextBox 7" id="7"/>
          <p:cNvSpPr txBox="true"/>
          <p:nvPr/>
        </p:nvSpPr>
        <p:spPr>
          <a:xfrm rot="0">
            <a:off x="1028700" y="4340379"/>
            <a:ext cx="7025398" cy="3204210"/>
          </a:xfrm>
          <a:prstGeom prst="rect">
            <a:avLst/>
          </a:prstGeom>
        </p:spPr>
        <p:txBody>
          <a:bodyPr anchor="t" rtlCol="false" tIns="0" lIns="0" bIns="0" rIns="0">
            <a:spAutoFit/>
          </a:bodyPr>
          <a:lstStyle/>
          <a:p>
            <a:pPr algn="l">
              <a:lnSpc>
                <a:spcPts val="3600"/>
              </a:lnSpc>
            </a:pPr>
            <a:r>
              <a:rPr lang="en-US" sz="2400">
                <a:solidFill>
                  <a:srgbClr val="000000"/>
                </a:solidFill>
                <a:latin typeface="Poppins"/>
                <a:ea typeface="Poppins"/>
                <a:cs typeface="Poppins"/>
                <a:sym typeface="Poppins"/>
              </a:rPr>
              <a:t>Variabel input pada penelitian yang dilakukan mencakup rentang nilai yang akan digunakan dalam perhitungan himpunan fuzzy. Rentang nilai ini akan diubah menjadi nilai linguistik yang kemudian akan digunakan sebagai input dalam pembuatan aturan fuzzy dalam penelitian.</a:t>
            </a:r>
          </a:p>
        </p:txBody>
      </p:sp>
      <p:sp>
        <p:nvSpPr>
          <p:cNvPr name="TextBox 8" id="8"/>
          <p:cNvSpPr txBox="true"/>
          <p:nvPr/>
        </p:nvSpPr>
        <p:spPr>
          <a:xfrm rot="0">
            <a:off x="1028700" y="3133799"/>
            <a:ext cx="7352391" cy="899160"/>
          </a:xfrm>
          <a:prstGeom prst="rect">
            <a:avLst/>
          </a:prstGeom>
        </p:spPr>
        <p:txBody>
          <a:bodyPr anchor="t" rtlCol="false" tIns="0" lIns="0" bIns="0" rIns="0">
            <a:spAutoFit/>
          </a:bodyPr>
          <a:lstStyle/>
          <a:p>
            <a:pPr algn="l">
              <a:lnSpc>
                <a:spcPts val="6719"/>
              </a:lnSpc>
            </a:pPr>
            <a:r>
              <a:rPr lang="en-US" sz="6999" spc="195">
                <a:solidFill>
                  <a:srgbClr val="5E17EB"/>
                </a:solidFill>
                <a:latin typeface="Alfa Slab One"/>
                <a:ea typeface="Alfa Slab One"/>
                <a:cs typeface="Alfa Slab One"/>
                <a:sym typeface="Alfa Slab One"/>
              </a:rPr>
              <a:t>Variable Input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sp>
        <p:nvSpPr>
          <p:cNvPr name="AutoShape 2" id="2"/>
          <p:cNvSpPr/>
          <p:nvPr/>
        </p:nvSpPr>
        <p:spPr>
          <a:xfrm>
            <a:off x="1028700" y="1047750"/>
            <a:ext cx="16230600" cy="0"/>
          </a:xfrm>
          <a:prstGeom prst="line">
            <a:avLst/>
          </a:prstGeom>
          <a:ln cap="flat" w="38100">
            <a:solidFill>
              <a:srgbClr val="737373"/>
            </a:solidFill>
            <a:prstDash val="solid"/>
            <a:headEnd type="none" len="sm" w="sm"/>
            <a:tailEnd type="none" len="sm" w="sm"/>
          </a:ln>
        </p:spPr>
      </p:sp>
      <p:sp>
        <p:nvSpPr>
          <p:cNvPr name="AutoShape 3" id="3"/>
          <p:cNvSpPr/>
          <p:nvPr/>
        </p:nvSpPr>
        <p:spPr>
          <a:xfrm>
            <a:off x="1028700" y="1904405"/>
            <a:ext cx="16230600" cy="0"/>
          </a:xfrm>
          <a:prstGeom prst="line">
            <a:avLst/>
          </a:prstGeom>
          <a:ln cap="flat" w="38100">
            <a:solidFill>
              <a:srgbClr val="737373"/>
            </a:solidFill>
            <a:prstDash val="solid"/>
            <a:headEnd type="none" len="sm" w="sm"/>
            <a:tailEnd type="none" len="sm" w="sm"/>
          </a:ln>
        </p:spPr>
      </p:sp>
      <p:sp>
        <p:nvSpPr>
          <p:cNvPr name="Freeform 4" id="4"/>
          <p:cNvSpPr/>
          <p:nvPr/>
        </p:nvSpPr>
        <p:spPr>
          <a:xfrm flipH="false" flipV="false" rot="0">
            <a:off x="6861422" y="7678904"/>
            <a:ext cx="379736" cy="379736"/>
          </a:xfrm>
          <a:custGeom>
            <a:avLst/>
            <a:gdLst/>
            <a:ahLst/>
            <a:cxnLst/>
            <a:rect r="r" b="b" t="t" l="l"/>
            <a:pathLst>
              <a:path h="379736" w="379736">
                <a:moveTo>
                  <a:pt x="0" y="0"/>
                </a:moveTo>
                <a:lnTo>
                  <a:pt x="379736" y="0"/>
                </a:lnTo>
                <a:lnTo>
                  <a:pt x="379736" y="379736"/>
                </a:lnTo>
                <a:lnTo>
                  <a:pt x="0" y="3797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1317043"/>
            <a:ext cx="3523480" cy="308610"/>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Studi Kasus</a:t>
            </a:r>
          </a:p>
        </p:txBody>
      </p:sp>
      <p:grpSp>
        <p:nvGrpSpPr>
          <p:cNvPr name="Group 6" id="6"/>
          <p:cNvGrpSpPr/>
          <p:nvPr/>
        </p:nvGrpSpPr>
        <p:grpSpPr>
          <a:xfrm rot="0">
            <a:off x="1391144" y="5848350"/>
            <a:ext cx="2976711" cy="1099096"/>
            <a:chOff x="0" y="0"/>
            <a:chExt cx="783990" cy="289474"/>
          </a:xfrm>
        </p:grpSpPr>
        <p:sp>
          <p:nvSpPr>
            <p:cNvPr name="Freeform 7" id="7"/>
            <p:cNvSpPr/>
            <p:nvPr/>
          </p:nvSpPr>
          <p:spPr>
            <a:xfrm flipH="false" flipV="false" rot="0">
              <a:off x="0" y="0"/>
              <a:ext cx="783990" cy="289474"/>
            </a:xfrm>
            <a:custGeom>
              <a:avLst/>
              <a:gdLst/>
              <a:ahLst/>
              <a:cxnLst/>
              <a:rect r="r" b="b" t="t" l="l"/>
              <a:pathLst>
                <a:path h="289474" w="783990">
                  <a:moveTo>
                    <a:pt x="132642" y="0"/>
                  </a:moveTo>
                  <a:lnTo>
                    <a:pt x="651347" y="0"/>
                  </a:lnTo>
                  <a:cubicBezTo>
                    <a:pt x="686526" y="0"/>
                    <a:pt x="720264" y="13975"/>
                    <a:pt x="745140" y="38850"/>
                  </a:cubicBezTo>
                  <a:cubicBezTo>
                    <a:pt x="770015" y="63725"/>
                    <a:pt x="783990" y="97463"/>
                    <a:pt x="783990" y="132642"/>
                  </a:cubicBezTo>
                  <a:lnTo>
                    <a:pt x="783990" y="156832"/>
                  </a:lnTo>
                  <a:cubicBezTo>
                    <a:pt x="783990" y="192010"/>
                    <a:pt x="770015" y="225749"/>
                    <a:pt x="745140" y="250624"/>
                  </a:cubicBezTo>
                  <a:cubicBezTo>
                    <a:pt x="720264" y="275499"/>
                    <a:pt x="686526" y="289474"/>
                    <a:pt x="651347" y="289474"/>
                  </a:cubicBezTo>
                  <a:lnTo>
                    <a:pt x="132642" y="289474"/>
                  </a:lnTo>
                  <a:cubicBezTo>
                    <a:pt x="97463" y="289474"/>
                    <a:pt x="63725" y="275499"/>
                    <a:pt x="38850" y="250624"/>
                  </a:cubicBezTo>
                  <a:cubicBezTo>
                    <a:pt x="13975" y="225749"/>
                    <a:pt x="0" y="192010"/>
                    <a:pt x="0" y="156832"/>
                  </a:cubicBezTo>
                  <a:lnTo>
                    <a:pt x="0" y="132642"/>
                  </a:lnTo>
                  <a:cubicBezTo>
                    <a:pt x="0" y="97463"/>
                    <a:pt x="13975" y="63725"/>
                    <a:pt x="38850" y="38850"/>
                  </a:cubicBezTo>
                  <a:cubicBezTo>
                    <a:pt x="63725" y="13975"/>
                    <a:pt x="97463" y="0"/>
                    <a:pt x="132642" y="0"/>
                  </a:cubicBezTo>
                  <a:close/>
                </a:path>
              </a:pathLst>
            </a:custGeom>
            <a:solidFill>
              <a:srgbClr val="D9D9D9"/>
            </a:solidFill>
          </p:spPr>
        </p:sp>
        <p:sp>
          <p:nvSpPr>
            <p:cNvPr name="TextBox 8" id="8"/>
            <p:cNvSpPr txBox="true"/>
            <p:nvPr/>
          </p:nvSpPr>
          <p:spPr>
            <a:xfrm>
              <a:off x="0" y="-9525"/>
              <a:ext cx="783990" cy="298999"/>
            </a:xfrm>
            <a:prstGeom prst="rect">
              <a:avLst/>
            </a:prstGeom>
          </p:spPr>
          <p:txBody>
            <a:bodyPr anchor="ctr" rtlCol="false" tIns="50800" lIns="50800" bIns="50800" rIns="50800"/>
            <a:lstStyle/>
            <a:p>
              <a:pPr algn="ctr">
                <a:lnSpc>
                  <a:spcPts val="2220"/>
                </a:lnSpc>
              </a:pPr>
            </a:p>
          </p:txBody>
        </p:sp>
      </p:grpSp>
      <p:sp>
        <p:nvSpPr>
          <p:cNvPr name="TextBox 9" id="9"/>
          <p:cNvSpPr txBox="true"/>
          <p:nvPr/>
        </p:nvSpPr>
        <p:spPr>
          <a:xfrm rot="0">
            <a:off x="1846753" y="6054998"/>
            <a:ext cx="2065493" cy="571500"/>
          </a:xfrm>
          <a:prstGeom prst="rect">
            <a:avLst/>
          </a:prstGeom>
        </p:spPr>
        <p:txBody>
          <a:bodyPr anchor="t" rtlCol="false" tIns="0" lIns="0" bIns="0" rIns="0">
            <a:spAutoFit/>
          </a:bodyPr>
          <a:lstStyle/>
          <a:p>
            <a:pPr algn="l">
              <a:lnSpc>
                <a:spcPts val="4500"/>
              </a:lnSpc>
            </a:pPr>
            <a:r>
              <a:rPr lang="en-US" sz="3000" b="true">
                <a:solidFill>
                  <a:srgbClr val="000000"/>
                </a:solidFill>
                <a:latin typeface="Poppins Bold"/>
                <a:ea typeface="Poppins Bold"/>
                <a:cs typeface="Poppins Bold"/>
                <a:sym typeface="Poppins Bold"/>
              </a:rPr>
              <a:t>MISALNYA</a:t>
            </a:r>
          </a:p>
        </p:txBody>
      </p:sp>
      <p:sp>
        <p:nvSpPr>
          <p:cNvPr name="TextBox 10" id="10"/>
          <p:cNvSpPr txBox="true"/>
          <p:nvPr/>
        </p:nvSpPr>
        <p:spPr>
          <a:xfrm rot="0">
            <a:off x="1846753" y="7137290"/>
            <a:ext cx="9383439" cy="571500"/>
          </a:xfrm>
          <a:prstGeom prst="rect">
            <a:avLst/>
          </a:prstGeom>
        </p:spPr>
        <p:txBody>
          <a:bodyPr anchor="t" rtlCol="false" tIns="0" lIns="0" bIns="0" rIns="0">
            <a:spAutoFit/>
          </a:bodyPr>
          <a:lstStyle/>
          <a:p>
            <a:pPr algn="l">
              <a:lnSpc>
                <a:spcPts val="4500"/>
              </a:lnSpc>
            </a:pPr>
            <a:r>
              <a:rPr lang="en-US" sz="3000" b="true">
                <a:solidFill>
                  <a:srgbClr val="000000"/>
                </a:solidFill>
                <a:latin typeface="Poppins Bold"/>
                <a:ea typeface="Poppins Bold"/>
                <a:cs typeface="Poppins Bold"/>
                <a:sym typeface="Poppins Bold"/>
              </a:rPr>
              <a:t>Skor Patient Health Questionnaire-9 (PHQ-9) </a:t>
            </a:r>
            <a:r>
              <a:rPr lang="en-US" sz="3000" b="true">
                <a:solidFill>
                  <a:srgbClr val="5E17EB"/>
                </a:solidFill>
                <a:latin typeface="Poppins Bold"/>
                <a:ea typeface="Poppins Bold"/>
                <a:cs typeface="Poppins Bold"/>
                <a:sym typeface="Poppins Bold"/>
              </a:rPr>
              <a:t>11</a:t>
            </a:r>
          </a:p>
        </p:txBody>
      </p:sp>
      <p:grpSp>
        <p:nvGrpSpPr>
          <p:cNvPr name="Group 11" id="11"/>
          <p:cNvGrpSpPr/>
          <p:nvPr/>
        </p:nvGrpSpPr>
        <p:grpSpPr>
          <a:xfrm rot="0">
            <a:off x="1302085" y="2704504"/>
            <a:ext cx="2976711" cy="1099096"/>
            <a:chOff x="0" y="0"/>
            <a:chExt cx="783990" cy="289474"/>
          </a:xfrm>
        </p:grpSpPr>
        <p:sp>
          <p:nvSpPr>
            <p:cNvPr name="Freeform 12" id="12"/>
            <p:cNvSpPr/>
            <p:nvPr/>
          </p:nvSpPr>
          <p:spPr>
            <a:xfrm flipH="false" flipV="false" rot="0">
              <a:off x="0" y="0"/>
              <a:ext cx="783990" cy="289474"/>
            </a:xfrm>
            <a:custGeom>
              <a:avLst/>
              <a:gdLst/>
              <a:ahLst/>
              <a:cxnLst/>
              <a:rect r="r" b="b" t="t" l="l"/>
              <a:pathLst>
                <a:path h="289474" w="783990">
                  <a:moveTo>
                    <a:pt x="132642" y="0"/>
                  </a:moveTo>
                  <a:lnTo>
                    <a:pt x="651347" y="0"/>
                  </a:lnTo>
                  <a:cubicBezTo>
                    <a:pt x="686526" y="0"/>
                    <a:pt x="720264" y="13975"/>
                    <a:pt x="745140" y="38850"/>
                  </a:cubicBezTo>
                  <a:cubicBezTo>
                    <a:pt x="770015" y="63725"/>
                    <a:pt x="783990" y="97463"/>
                    <a:pt x="783990" y="132642"/>
                  </a:cubicBezTo>
                  <a:lnTo>
                    <a:pt x="783990" y="156832"/>
                  </a:lnTo>
                  <a:cubicBezTo>
                    <a:pt x="783990" y="192010"/>
                    <a:pt x="770015" y="225749"/>
                    <a:pt x="745140" y="250624"/>
                  </a:cubicBezTo>
                  <a:cubicBezTo>
                    <a:pt x="720264" y="275499"/>
                    <a:pt x="686526" y="289474"/>
                    <a:pt x="651347" y="289474"/>
                  </a:cubicBezTo>
                  <a:lnTo>
                    <a:pt x="132642" y="289474"/>
                  </a:lnTo>
                  <a:cubicBezTo>
                    <a:pt x="97463" y="289474"/>
                    <a:pt x="63725" y="275499"/>
                    <a:pt x="38850" y="250624"/>
                  </a:cubicBezTo>
                  <a:cubicBezTo>
                    <a:pt x="13975" y="225749"/>
                    <a:pt x="0" y="192010"/>
                    <a:pt x="0" y="156832"/>
                  </a:cubicBezTo>
                  <a:lnTo>
                    <a:pt x="0" y="132642"/>
                  </a:lnTo>
                  <a:cubicBezTo>
                    <a:pt x="0" y="97463"/>
                    <a:pt x="13975" y="63725"/>
                    <a:pt x="38850" y="38850"/>
                  </a:cubicBezTo>
                  <a:cubicBezTo>
                    <a:pt x="63725" y="13975"/>
                    <a:pt x="97463" y="0"/>
                    <a:pt x="132642" y="0"/>
                  </a:cubicBezTo>
                  <a:close/>
                </a:path>
              </a:pathLst>
            </a:custGeom>
            <a:solidFill>
              <a:srgbClr val="D9D9D9"/>
            </a:solidFill>
          </p:spPr>
        </p:sp>
        <p:sp>
          <p:nvSpPr>
            <p:cNvPr name="TextBox 13" id="13"/>
            <p:cNvSpPr txBox="true"/>
            <p:nvPr/>
          </p:nvSpPr>
          <p:spPr>
            <a:xfrm>
              <a:off x="0" y="-9525"/>
              <a:ext cx="783990" cy="298999"/>
            </a:xfrm>
            <a:prstGeom prst="rect">
              <a:avLst/>
            </a:prstGeom>
          </p:spPr>
          <p:txBody>
            <a:bodyPr anchor="ctr" rtlCol="false" tIns="50800" lIns="50800" bIns="50800" rIns="50800"/>
            <a:lstStyle/>
            <a:p>
              <a:pPr algn="ctr">
                <a:lnSpc>
                  <a:spcPts val="2220"/>
                </a:lnSpc>
              </a:pPr>
            </a:p>
          </p:txBody>
        </p:sp>
      </p:grpSp>
      <p:sp>
        <p:nvSpPr>
          <p:cNvPr name="TextBox 14" id="14"/>
          <p:cNvSpPr txBox="true"/>
          <p:nvPr/>
        </p:nvSpPr>
        <p:spPr>
          <a:xfrm rot="0">
            <a:off x="1757694" y="2911152"/>
            <a:ext cx="2065493" cy="571500"/>
          </a:xfrm>
          <a:prstGeom prst="rect">
            <a:avLst/>
          </a:prstGeom>
        </p:spPr>
        <p:txBody>
          <a:bodyPr anchor="t" rtlCol="false" tIns="0" lIns="0" bIns="0" rIns="0">
            <a:spAutoFit/>
          </a:bodyPr>
          <a:lstStyle/>
          <a:p>
            <a:pPr algn="l">
              <a:lnSpc>
                <a:spcPts val="4500"/>
              </a:lnSpc>
            </a:pPr>
            <a:r>
              <a:rPr lang="en-US" sz="3000" b="true">
                <a:solidFill>
                  <a:srgbClr val="000000"/>
                </a:solidFill>
                <a:latin typeface="Poppins Bold"/>
                <a:ea typeface="Poppins Bold"/>
                <a:cs typeface="Poppins Bold"/>
                <a:sym typeface="Poppins Bold"/>
              </a:rPr>
              <a:t>MISALNYA</a:t>
            </a:r>
          </a:p>
        </p:txBody>
      </p:sp>
      <p:sp>
        <p:nvSpPr>
          <p:cNvPr name="TextBox 15" id="15"/>
          <p:cNvSpPr txBox="true"/>
          <p:nvPr/>
        </p:nvSpPr>
        <p:spPr>
          <a:xfrm rot="0">
            <a:off x="1757694" y="4031544"/>
            <a:ext cx="6322074" cy="571500"/>
          </a:xfrm>
          <a:prstGeom prst="rect">
            <a:avLst/>
          </a:prstGeom>
        </p:spPr>
        <p:txBody>
          <a:bodyPr anchor="t" rtlCol="false" tIns="0" lIns="0" bIns="0" rIns="0">
            <a:spAutoFit/>
          </a:bodyPr>
          <a:lstStyle/>
          <a:p>
            <a:pPr algn="l">
              <a:lnSpc>
                <a:spcPts val="4500"/>
              </a:lnSpc>
            </a:pPr>
            <a:r>
              <a:rPr lang="en-US" sz="3000" b="true">
                <a:solidFill>
                  <a:srgbClr val="000000"/>
                </a:solidFill>
                <a:latin typeface="Poppins Bold"/>
                <a:ea typeface="Poppins Bold"/>
                <a:cs typeface="Poppins Bold"/>
                <a:sym typeface="Poppins Bold"/>
              </a:rPr>
              <a:t>Skor Indeks Massa Tubuh </a:t>
            </a:r>
            <a:r>
              <a:rPr lang="en-US" sz="3000" b="true">
                <a:solidFill>
                  <a:srgbClr val="5E17EB"/>
                </a:solidFill>
                <a:latin typeface="Poppins Bold"/>
                <a:ea typeface="Poppins Bold"/>
                <a:cs typeface="Poppins Bold"/>
                <a:sym typeface="Poppins Bold"/>
              </a:rPr>
              <a:t>26.99</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sp>
        <p:nvSpPr>
          <p:cNvPr name="AutoShape 2" id="2"/>
          <p:cNvSpPr/>
          <p:nvPr/>
        </p:nvSpPr>
        <p:spPr>
          <a:xfrm>
            <a:off x="1028700" y="326372"/>
            <a:ext cx="16230600" cy="0"/>
          </a:xfrm>
          <a:prstGeom prst="line">
            <a:avLst/>
          </a:prstGeom>
          <a:ln cap="flat" w="38100">
            <a:solidFill>
              <a:srgbClr val="737373"/>
            </a:solidFill>
            <a:prstDash val="solid"/>
            <a:headEnd type="none" len="sm" w="sm"/>
            <a:tailEnd type="none" len="sm" w="sm"/>
          </a:ln>
        </p:spPr>
      </p:sp>
      <p:sp>
        <p:nvSpPr>
          <p:cNvPr name="AutoShape 3" id="3"/>
          <p:cNvSpPr/>
          <p:nvPr/>
        </p:nvSpPr>
        <p:spPr>
          <a:xfrm>
            <a:off x="1028700" y="1183027"/>
            <a:ext cx="16230600" cy="0"/>
          </a:xfrm>
          <a:prstGeom prst="line">
            <a:avLst/>
          </a:prstGeom>
          <a:ln cap="flat" w="38100">
            <a:solidFill>
              <a:srgbClr val="737373"/>
            </a:solidFill>
            <a:prstDash val="solid"/>
            <a:headEnd type="none" len="sm" w="sm"/>
            <a:tailEnd type="none" len="sm" w="sm"/>
          </a:ln>
        </p:spPr>
      </p:sp>
      <p:sp>
        <p:nvSpPr>
          <p:cNvPr name="Freeform 4" id="4"/>
          <p:cNvSpPr/>
          <p:nvPr/>
        </p:nvSpPr>
        <p:spPr>
          <a:xfrm flipH="false" flipV="false" rot="0">
            <a:off x="6225090" y="7322979"/>
            <a:ext cx="429740" cy="429740"/>
          </a:xfrm>
          <a:custGeom>
            <a:avLst/>
            <a:gdLst/>
            <a:ahLst/>
            <a:cxnLst/>
            <a:rect r="r" b="b" t="t" l="l"/>
            <a:pathLst>
              <a:path h="429740" w="429740">
                <a:moveTo>
                  <a:pt x="0" y="0"/>
                </a:moveTo>
                <a:lnTo>
                  <a:pt x="429740" y="0"/>
                </a:lnTo>
                <a:lnTo>
                  <a:pt x="429740" y="429740"/>
                </a:lnTo>
                <a:lnTo>
                  <a:pt x="0" y="429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04462" y="1459252"/>
            <a:ext cx="5468682" cy="4478779"/>
          </a:xfrm>
          <a:custGeom>
            <a:avLst/>
            <a:gdLst/>
            <a:ahLst/>
            <a:cxnLst/>
            <a:rect r="r" b="b" t="t" l="l"/>
            <a:pathLst>
              <a:path h="4478779" w="5468682">
                <a:moveTo>
                  <a:pt x="0" y="0"/>
                </a:moveTo>
                <a:lnTo>
                  <a:pt x="5468681" y="0"/>
                </a:lnTo>
                <a:lnTo>
                  <a:pt x="5468681" y="4478778"/>
                </a:lnTo>
                <a:lnTo>
                  <a:pt x="0" y="4478778"/>
                </a:lnTo>
                <a:lnTo>
                  <a:pt x="0" y="0"/>
                </a:lnTo>
                <a:close/>
              </a:path>
            </a:pathLst>
          </a:custGeom>
          <a:blipFill>
            <a:blip r:embed="rId4"/>
            <a:stretch>
              <a:fillRect l="-1380" t="0" r="-2108" b="0"/>
            </a:stretch>
          </a:blipFill>
        </p:spPr>
      </p:sp>
      <p:sp>
        <p:nvSpPr>
          <p:cNvPr name="Freeform 6" id="6"/>
          <p:cNvSpPr/>
          <p:nvPr/>
        </p:nvSpPr>
        <p:spPr>
          <a:xfrm flipH="false" flipV="false" rot="0">
            <a:off x="404462" y="5948810"/>
            <a:ext cx="5468682" cy="4433013"/>
          </a:xfrm>
          <a:custGeom>
            <a:avLst/>
            <a:gdLst/>
            <a:ahLst/>
            <a:cxnLst/>
            <a:rect r="r" b="b" t="t" l="l"/>
            <a:pathLst>
              <a:path h="4433013" w="5468682">
                <a:moveTo>
                  <a:pt x="0" y="0"/>
                </a:moveTo>
                <a:lnTo>
                  <a:pt x="5468681" y="0"/>
                </a:lnTo>
                <a:lnTo>
                  <a:pt x="5468681" y="4433013"/>
                </a:lnTo>
                <a:lnTo>
                  <a:pt x="0" y="4433013"/>
                </a:lnTo>
                <a:lnTo>
                  <a:pt x="0" y="0"/>
                </a:lnTo>
                <a:close/>
              </a:path>
            </a:pathLst>
          </a:custGeom>
          <a:blipFill>
            <a:blip r:embed="rId5"/>
            <a:stretch>
              <a:fillRect l="0" t="0" r="0" b="-243"/>
            </a:stretch>
          </a:blipFill>
        </p:spPr>
      </p:sp>
      <p:sp>
        <p:nvSpPr>
          <p:cNvPr name="Freeform 7" id="7"/>
          <p:cNvSpPr/>
          <p:nvPr/>
        </p:nvSpPr>
        <p:spPr>
          <a:xfrm flipH="false" flipV="false" rot="0">
            <a:off x="13340473" y="7495772"/>
            <a:ext cx="5014202" cy="1125736"/>
          </a:xfrm>
          <a:custGeom>
            <a:avLst/>
            <a:gdLst/>
            <a:ahLst/>
            <a:cxnLst/>
            <a:rect r="r" b="b" t="t" l="l"/>
            <a:pathLst>
              <a:path h="1125736" w="5014202">
                <a:moveTo>
                  <a:pt x="0" y="0"/>
                </a:moveTo>
                <a:lnTo>
                  <a:pt x="5014202" y="0"/>
                </a:lnTo>
                <a:lnTo>
                  <a:pt x="5014202" y="1125735"/>
                </a:lnTo>
                <a:lnTo>
                  <a:pt x="0" y="1125735"/>
                </a:lnTo>
                <a:lnTo>
                  <a:pt x="0" y="0"/>
                </a:lnTo>
                <a:close/>
              </a:path>
            </a:pathLst>
          </a:custGeom>
          <a:blipFill>
            <a:blip r:embed="rId6"/>
            <a:stretch>
              <a:fillRect l="0" t="-615" r="0" b="-615"/>
            </a:stretch>
          </a:blipFill>
        </p:spPr>
      </p:sp>
      <p:sp>
        <p:nvSpPr>
          <p:cNvPr name="Freeform 8" id="8"/>
          <p:cNvSpPr/>
          <p:nvPr/>
        </p:nvSpPr>
        <p:spPr>
          <a:xfrm flipH="false" flipV="false" rot="0">
            <a:off x="13185982" y="8647095"/>
            <a:ext cx="5168693" cy="897207"/>
          </a:xfrm>
          <a:custGeom>
            <a:avLst/>
            <a:gdLst/>
            <a:ahLst/>
            <a:cxnLst/>
            <a:rect r="r" b="b" t="t" l="l"/>
            <a:pathLst>
              <a:path h="897207" w="5168693">
                <a:moveTo>
                  <a:pt x="0" y="0"/>
                </a:moveTo>
                <a:lnTo>
                  <a:pt x="5168693" y="0"/>
                </a:lnTo>
                <a:lnTo>
                  <a:pt x="5168693" y="897207"/>
                </a:lnTo>
                <a:lnTo>
                  <a:pt x="0" y="897207"/>
                </a:lnTo>
                <a:lnTo>
                  <a:pt x="0" y="0"/>
                </a:lnTo>
                <a:close/>
              </a:path>
            </a:pathLst>
          </a:custGeom>
          <a:blipFill>
            <a:blip r:embed="rId7"/>
            <a:stretch>
              <a:fillRect l="0" t="0" r="0" b="0"/>
            </a:stretch>
          </a:blipFill>
        </p:spPr>
      </p:sp>
      <p:sp>
        <p:nvSpPr>
          <p:cNvPr name="Freeform 9" id="9"/>
          <p:cNvSpPr/>
          <p:nvPr/>
        </p:nvSpPr>
        <p:spPr>
          <a:xfrm flipH="false" flipV="false" rot="0">
            <a:off x="13185982" y="3422651"/>
            <a:ext cx="3519343" cy="618890"/>
          </a:xfrm>
          <a:custGeom>
            <a:avLst/>
            <a:gdLst/>
            <a:ahLst/>
            <a:cxnLst/>
            <a:rect r="r" b="b" t="t" l="l"/>
            <a:pathLst>
              <a:path h="618890" w="3519343">
                <a:moveTo>
                  <a:pt x="0" y="0"/>
                </a:moveTo>
                <a:lnTo>
                  <a:pt x="3519343" y="0"/>
                </a:lnTo>
                <a:lnTo>
                  <a:pt x="3519343" y="618891"/>
                </a:lnTo>
                <a:lnTo>
                  <a:pt x="0" y="618891"/>
                </a:lnTo>
                <a:lnTo>
                  <a:pt x="0" y="0"/>
                </a:lnTo>
                <a:close/>
              </a:path>
            </a:pathLst>
          </a:custGeom>
          <a:blipFill>
            <a:blip r:embed="rId8"/>
            <a:stretch>
              <a:fillRect l="0" t="-27543" r="0" b="-27543"/>
            </a:stretch>
          </a:blipFill>
        </p:spPr>
      </p:sp>
      <p:sp>
        <p:nvSpPr>
          <p:cNvPr name="Freeform 10" id="10"/>
          <p:cNvSpPr/>
          <p:nvPr/>
        </p:nvSpPr>
        <p:spPr>
          <a:xfrm flipH="false" flipV="false" rot="0">
            <a:off x="5915334" y="2021227"/>
            <a:ext cx="7270648" cy="3364480"/>
          </a:xfrm>
          <a:custGeom>
            <a:avLst/>
            <a:gdLst/>
            <a:ahLst/>
            <a:cxnLst/>
            <a:rect r="r" b="b" t="t" l="l"/>
            <a:pathLst>
              <a:path h="3364480" w="7270648">
                <a:moveTo>
                  <a:pt x="0" y="0"/>
                </a:moveTo>
                <a:lnTo>
                  <a:pt x="7270648" y="0"/>
                </a:lnTo>
                <a:lnTo>
                  <a:pt x="7270648" y="3364480"/>
                </a:lnTo>
                <a:lnTo>
                  <a:pt x="0" y="3364480"/>
                </a:lnTo>
                <a:lnTo>
                  <a:pt x="0" y="0"/>
                </a:lnTo>
                <a:close/>
              </a:path>
            </a:pathLst>
          </a:custGeom>
          <a:blipFill>
            <a:blip r:embed="rId9"/>
            <a:stretch>
              <a:fillRect l="-5391" t="-2902" r="-5391" b="0"/>
            </a:stretch>
          </a:blipFill>
        </p:spPr>
      </p:sp>
      <p:sp>
        <p:nvSpPr>
          <p:cNvPr name="Freeform 11" id="11"/>
          <p:cNvSpPr/>
          <p:nvPr/>
        </p:nvSpPr>
        <p:spPr>
          <a:xfrm flipH="false" flipV="false" rot="0">
            <a:off x="5605259" y="6354647"/>
            <a:ext cx="7890798" cy="3407986"/>
          </a:xfrm>
          <a:custGeom>
            <a:avLst/>
            <a:gdLst/>
            <a:ahLst/>
            <a:cxnLst/>
            <a:rect r="r" b="b" t="t" l="l"/>
            <a:pathLst>
              <a:path h="3407986" w="7890798">
                <a:moveTo>
                  <a:pt x="0" y="0"/>
                </a:moveTo>
                <a:lnTo>
                  <a:pt x="7890798" y="0"/>
                </a:lnTo>
                <a:lnTo>
                  <a:pt x="7890798" y="3407985"/>
                </a:lnTo>
                <a:lnTo>
                  <a:pt x="0" y="3407985"/>
                </a:lnTo>
                <a:lnTo>
                  <a:pt x="0" y="0"/>
                </a:lnTo>
                <a:close/>
              </a:path>
            </a:pathLst>
          </a:custGeom>
          <a:blipFill>
            <a:blip r:embed="rId10"/>
            <a:stretch>
              <a:fillRect l="0" t="0" r="0" b="0"/>
            </a:stretch>
          </a:blipFill>
        </p:spPr>
      </p:sp>
      <p:sp>
        <p:nvSpPr>
          <p:cNvPr name="TextBox 12" id="12"/>
          <p:cNvSpPr txBox="true"/>
          <p:nvPr/>
        </p:nvSpPr>
        <p:spPr>
          <a:xfrm rot="0">
            <a:off x="1028700" y="595665"/>
            <a:ext cx="11553500" cy="432404"/>
          </a:xfrm>
          <a:prstGeom prst="rect">
            <a:avLst/>
          </a:prstGeom>
        </p:spPr>
        <p:txBody>
          <a:bodyPr anchor="t" rtlCol="false" tIns="0" lIns="0" bIns="0" rIns="0">
            <a:spAutoFit/>
          </a:bodyPr>
          <a:lstStyle/>
          <a:p>
            <a:pPr algn="l">
              <a:lnSpc>
                <a:spcPts val="3141"/>
              </a:lnSpc>
            </a:pPr>
            <a:r>
              <a:rPr lang="en-US" sz="2830">
                <a:solidFill>
                  <a:srgbClr val="000000"/>
                </a:solidFill>
                <a:latin typeface="Poppins"/>
                <a:ea typeface="Poppins"/>
                <a:cs typeface="Poppins"/>
                <a:sym typeface="Poppins"/>
              </a:rPr>
              <a:t>Membangun Fungsi Keanggotaan berdasarkan crisp data</a:t>
            </a:r>
          </a:p>
        </p:txBody>
      </p:sp>
      <p:sp>
        <p:nvSpPr>
          <p:cNvPr name="TextBox 13" id="13"/>
          <p:cNvSpPr txBox="true"/>
          <p:nvPr/>
        </p:nvSpPr>
        <p:spPr>
          <a:xfrm rot="0">
            <a:off x="13276969" y="7034793"/>
            <a:ext cx="5005769" cy="432404"/>
          </a:xfrm>
          <a:prstGeom prst="rect">
            <a:avLst/>
          </a:prstGeom>
        </p:spPr>
        <p:txBody>
          <a:bodyPr anchor="t" rtlCol="false" tIns="0" lIns="0" bIns="0" rIns="0">
            <a:spAutoFit/>
          </a:bodyPr>
          <a:lstStyle/>
          <a:p>
            <a:pPr algn="l">
              <a:lnSpc>
                <a:spcPts val="3141"/>
              </a:lnSpc>
            </a:pPr>
            <a:r>
              <a:rPr lang="en-US" sz="2830" b="true">
                <a:solidFill>
                  <a:srgbClr val="000000"/>
                </a:solidFill>
                <a:latin typeface="Poppins Bold"/>
                <a:ea typeface="Poppins Bold"/>
                <a:cs typeface="Poppins Bold"/>
                <a:sym typeface="Poppins Bold"/>
              </a:rPr>
              <a:t>Nilai PHQ = 11</a:t>
            </a:r>
          </a:p>
        </p:txBody>
      </p:sp>
      <p:sp>
        <p:nvSpPr>
          <p:cNvPr name="TextBox 14" id="14"/>
          <p:cNvSpPr txBox="true"/>
          <p:nvPr/>
        </p:nvSpPr>
        <p:spPr>
          <a:xfrm rot="0">
            <a:off x="13185982" y="2733080"/>
            <a:ext cx="3142624" cy="432397"/>
          </a:xfrm>
          <a:prstGeom prst="rect">
            <a:avLst/>
          </a:prstGeom>
        </p:spPr>
        <p:txBody>
          <a:bodyPr anchor="t" rtlCol="false" tIns="0" lIns="0" bIns="0" rIns="0">
            <a:spAutoFit/>
          </a:bodyPr>
          <a:lstStyle/>
          <a:p>
            <a:pPr algn="ctr">
              <a:lnSpc>
                <a:spcPts val="3141"/>
              </a:lnSpc>
              <a:spcBef>
                <a:spcPct val="0"/>
              </a:spcBef>
            </a:pPr>
            <a:r>
              <a:rPr lang="en-US" b="true" sz="2829">
                <a:solidFill>
                  <a:srgbClr val="000000"/>
                </a:solidFill>
                <a:latin typeface="Poppins Bold"/>
                <a:ea typeface="Poppins Bold"/>
                <a:cs typeface="Poppins Bold"/>
                <a:sym typeface="Poppins Bold"/>
              </a:rPr>
              <a:t>Nilai IMT = 26,99</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13132787" y="-4890333"/>
            <a:ext cx="7157748" cy="715774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17EB"/>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710875" y="3921010"/>
            <a:ext cx="3913709" cy="1222490"/>
            <a:chOff x="0" y="0"/>
            <a:chExt cx="1030771" cy="321973"/>
          </a:xfrm>
        </p:grpSpPr>
        <p:sp>
          <p:nvSpPr>
            <p:cNvPr name="Freeform 6" id="6"/>
            <p:cNvSpPr/>
            <p:nvPr/>
          </p:nvSpPr>
          <p:spPr>
            <a:xfrm flipH="false" flipV="false" rot="0">
              <a:off x="0" y="0"/>
              <a:ext cx="1030771" cy="321973"/>
            </a:xfrm>
            <a:custGeom>
              <a:avLst/>
              <a:gdLst/>
              <a:ahLst/>
              <a:cxnLst/>
              <a:rect r="r" b="b" t="t" l="l"/>
              <a:pathLst>
                <a:path h="321973" w="1030771">
                  <a:moveTo>
                    <a:pt x="100886" y="0"/>
                  </a:moveTo>
                  <a:lnTo>
                    <a:pt x="929885" y="0"/>
                  </a:lnTo>
                  <a:cubicBezTo>
                    <a:pt x="956642" y="0"/>
                    <a:pt x="982303" y="10629"/>
                    <a:pt x="1001222" y="29549"/>
                  </a:cubicBezTo>
                  <a:cubicBezTo>
                    <a:pt x="1020142" y="48469"/>
                    <a:pt x="1030771" y="74129"/>
                    <a:pt x="1030771" y="100886"/>
                  </a:cubicBezTo>
                  <a:lnTo>
                    <a:pt x="1030771" y="221087"/>
                  </a:lnTo>
                  <a:cubicBezTo>
                    <a:pt x="1030771" y="247843"/>
                    <a:pt x="1020142" y="273504"/>
                    <a:pt x="1001222" y="292424"/>
                  </a:cubicBezTo>
                  <a:cubicBezTo>
                    <a:pt x="982303" y="311344"/>
                    <a:pt x="956642" y="321973"/>
                    <a:pt x="929885" y="321973"/>
                  </a:cubicBezTo>
                  <a:lnTo>
                    <a:pt x="100886" y="321973"/>
                  </a:lnTo>
                  <a:cubicBezTo>
                    <a:pt x="45168" y="321973"/>
                    <a:pt x="0" y="276804"/>
                    <a:pt x="0" y="221087"/>
                  </a:cubicBezTo>
                  <a:lnTo>
                    <a:pt x="0" y="100886"/>
                  </a:lnTo>
                  <a:cubicBezTo>
                    <a:pt x="0" y="45168"/>
                    <a:pt x="45168" y="0"/>
                    <a:pt x="100886" y="0"/>
                  </a:cubicBezTo>
                  <a:close/>
                </a:path>
              </a:pathLst>
            </a:custGeom>
            <a:solidFill>
              <a:srgbClr val="FFFFFF"/>
            </a:solidFill>
            <a:ln w="38100" cap="rnd">
              <a:solidFill>
                <a:srgbClr val="5E17EB"/>
              </a:solidFill>
              <a:prstDash val="solid"/>
              <a:round/>
            </a:ln>
          </p:spPr>
        </p:sp>
        <p:sp>
          <p:nvSpPr>
            <p:cNvPr name="TextBox 7" id="7"/>
            <p:cNvSpPr txBox="true"/>
            <p:nvPr/>
          </p:nvSpPr>
          <p:spPr>
            <a:xfrm>
              <a:off x="0" y="-38100"/>
              <a:ext cx="1030771" cy="360073"/>
            </a:xfrm>
            <a:prstGeom prst="rect">
              <a:avLst/>
            </a:prstGeom>
          </p:spPr>
          <p:txBody>
            <a:bodyPr anchor="ctr" rtlCol="false" tIns="50800" lIns="50800" bIns="50800" rIns="50800"/>
            <a:lstStyle/>
            <a:p>
              <a:pPr algn="ctr">
                <a:lnSpc>
                  <a:spcPts val="2940"/>
                </a:lnSpc>
              </a:pPr>
            </a:p>
          </p:txBody>
        </p:sp>
      </p:grpSp>
      <p:sp>
        <p:nvSpPr>
          <p:cNvPr name="TextBox 8" id="8"/>
          <p:cNvSpPr txBox="true"/>
          <p:nvPr/>
        </p:nvSpPr>
        <p:spPr>
          <a:xfrm rot="0">
            <a:off x="9808588" y="5569783"/>
            <a:ext cx="7578374" cy="899160"/>
          </a:xfrm>
          <a:prstGeom prst="rect">
            <a:avLst/>
          </a:prstGeom>
        </p:spPr>
        <p:txBody>
          <a:bodyPr anchor="t" rtlCol="false" tIns="0" lIns="0" bIns="0" rIns="0">
            <a:spAutoFit/>
          </a:bodyPr>
          <a:lstStyle/>
          <a:p>
            <a:pPr algn="ctr">
              <a:lnSpc>
                <a:spcPts val="6719"/>
              </a:lnSpc>
            </a:pPr>
            <a:r>
              <a:rPr lang="en-US" sz="6999" spc="195">
                <a:solidFill>
                  <a:srgbClr val="5E17EB"/>
                </a:solidFill>
                <a:latin typeface="Alfa Slab One"/>
                <a:ea typeface="Alfa Slab One"/>
                <a:cs typeface="Alfa Slab One"/>
                <a:sym typeface="Alfa Slab One"/>
              </a:rPr>
              <a:t>Fuzzy Input</a:t>
            </a:r>
          </a:p>
        </p:txBody>
      </p:sp>
      <p:grpSp>
        <p:nvGrpSpPr>
          <p:cNvPr name="Group 9" id="9"/>
          <p:cNvGrpSpPr/>
          <p:nvPr/>
        </p:nvGrpSpPr>
        <p:grpSpPr>
          <a:xfrm rot="0">
            <a:off x="1710875" y="6869695"/>
            <a:ext cx="3913709" cy="1222490"/>
            <a:chOff x="0" y="0"/>
            <a:chExt cx="1030771" cy="321973"/>
          </a:xfrm>
        </p:grpSpPr>
        <p:sp>
          <p:nvSpPr>
            <p:cNvPr name="Freeform 10" id="10"/>
            <p:cNvSpPr/>
            <p:nvPr/>
          </p:nvSpPr>
          <p:spPr>
            <a:xfrm flipH="false" flipV="false" rot="0">
              <a:off x="0" y="0"/>
              <a:ext cx="1030771" cy="321973"/>
            </a:xfrm>
            <a:custGeom>
              <a:avLst/>
              <a:gdLst/>
              <a:ahLst/>
              <a:cxnLst/>
              <a:rect r="r" b="b" t="t" l="l"/>
              <a:pathLst>
                <a:path h="321973" w="1030771">
                  <a:moveTo>
                    <a:pt x="100886" y="0"/>
                  </a:moveTo>
                  <a:lnTo>
                    <a:pt x="929885" y="0"/>
                  </a:lnTo>
                  <a:cubicBezTo>
                    <a:pt x="956642" y="0"/>
                    <a:pt x="982303" y="10629"/>
                    <a:pt x="1001222" y="29549"/>
                  </a:cubicBezTo>
                  <a:cubicBezTo>
                    <a:pt x="1020142" y="48469"/>
                    <a:pt x="1030771" y="74129"/>
                    <a:pt x="1030771" y="100886"/>
                  </a:cubicBezTo>
                  <a:lnTo>
                    <a:pt x="1030771" y="221087"/>
                  </a:lnTo>
                  <a:cubicBezTo>
                    <a:pt x="1030771" y="247843"/>
                    <a:pt x="1020142" y="273504"/>
                    <a:pt x="1001222" y="292424"/>
                  </a:cubicBezTo>
                  <a:cubicBezTo>
                    <a:pt x="982303" y="311344"/>
                    <a:pt x="956642" y="321973"/>
                    <a:pt x="929885" y="321973"/>
                  </a:cubicBezTo>
                  <a:lnTo>
                    <a:pt x="100886" y="321973"/>
                  </a:lnTo>
                  <a:cubicBezTo>
                    <a:pt x="45168" y="321973"/>
                    <a:pt x="0" y="276804"/>
                    <a:pt x="0" y="221087"/>
                  </a:cubicBezTo>
                  <a:lnTo>
                    <a:pt x="0" y="100886"/>
                  </a:lnTo>
                  <a:cubicBezTo>
                    <a:pt x="0" y="45168"/>
                    <a:pt x="45168" y="0"/>
                    <a:pt x="100886" y="0"/>
                  </a:cubicBezTo>
                  <a:close/>
                </a:path>
              </a:pathLst>
            </a:custGeom>
            <a:solidFill>
              <a:srgbClr val="FFFFFF"/>
            </a:solidFill>
            <a:ln w="38100" cap="rnd">
              <a:solidFill>
                <a:srgbClr val="5E17EB"/>
              </a:solidFill>
              <a:prstDash val="solid"/>
              <a:round/>
            </a:ln>
          </p:spPr>
        </p:sp>
        <p:sp>
          <p:nvSpPr>
            <p:cNvPr name="TextBox 11" id="11"/>
            <p:cNvSpPr txBox="true"/>
            <p:nvPr/>
          </p:nvSpPr>
          <p:spPr>
            <a:xfrm>
              <a:off x="0" y="-38100"/>
              <a:ext cx="1030771" cy="360073"/>
            </a:xfrm>
            <a:prstGeom prst="rect">
              <a:avLst/>
            </a:prstGeom>
          </p:spPr>
          <p:txBody>
            <a:bodyPr anchor="ctr" rtlCol="false" tIns="50800" lIns="50800" bIns="50800" rIns="50800"/>
            <a:lstStyle/>
            <a:p>
              <a:pPr algn="ctr">
                <a:lnSpc>
                  <a:spcPts val="2940"/>
                </a:lnSpc>
              </a:pPr>
            </a:p>
          </p:txBody>
        </p:sp>
      </p:grpSp>
      <p:sp>
        <p:nvSpPr>
          <p:cNvPr name="TextBox 12" id="12"/>
          <p:cNvSpPr txBox="true"/>
          <p:nvPr/>
        </p:nvSpPr>
        <p:spPr>
          <a:xfrm rot="0">
            <a:off x="1710875" y="3193503"/>
            <a:ext cx="3142624" cy="432397"/>
          </a:xfrm>
          <a:prstGeom prst="rect">
            <a:avLst/>
          </a:prstGeom>
        </p:spPr>
        <p:txBody>
          <a:bodyPr anchor="t" rtlCol="false" tIns="0" lIns="0" bIns="0" rIns="0">
            <a:spAutoFit/>
          </a:bodyPr>
          <a:lstStyle/>
          <a:p>
            <a:pPr algn="ctr">
              <a:lnSpc>
                <a:spcPts val="3141"/>
              </a:lnSpc>
              <a:spcBef>
                <a:spcPct val="0"/>
              </a:spcBef>
            </a:pPr>
            <a:r>
              <a:rPr lang="en-US" b="true" sz="2829">
                <a:solidFill>
                  <a:srgbClr val="000000"/>
                </a:solidFill>
                <a:latin typeface="Poppins Bold"/>
                <a:ea typeface="Poppins Bold"/>
                <a:cs typeface="Poppins Bold"/>
                <a:sym typeface="Poppins Bold"/>
              </a:rPr>
              <a:t>Nilai IMT = 26,99</a:t>
            </a:r>
          </a:p>
        </p:txBody>
      </p:sp>
      <p:sp>
        <p:nvSpPr>
          <p:cNvPr name="TextBox 13" id="13"/>
          <p:cNvSpPr txBox="true"/>
          <p:nvPr/>
        </p:nvSpPr>
        <p:spPr>
          <a:xfrm rot="0">
            <a:off x="1710875" y="6195060"/>
            <a:ext cx="5005769" cy="432404"/>
          </a:xfrm>
          <a:prstGeom prst="rect">
            <a:avLst/>
          </a:prstGeom>
        </p:spPr>
        <p:txBody>
          <a:bodyPr anchor="t" rtlCol="false" tIns="0" lIns="0" bIns="0" rIns="0">
            <a:spAutoFit/>
          </a:bodyPr>
          <a:lstStyle/>
          <a:p>
            <a:pPr algn="l">
              <a:lnSpc>
                <a:spcPts val="3141"/>
              </a:lnSpc>
            </a:pPr>
            <a:r>
              <a:rPr lang="en-US" sz="2830" b="true">
                <a:solidFill>
                  <a:srgbClr val="000000"/>
                </a:solidFill>
                <a:latin typeface="Poppins Bold"/>
                <a:ea typeface="Poppins Bold"/>
                <a:cs typeface="Poppins Bold"/>
                <a:sym typeface="Poppins Bold"/>
              </a:rPr>
              <a:t>Nilai PHQ = 11</a:t>
            </a:r>
          </a:p>
        </p:txBody>
      </p:sp>
      <p:sp>
        <p:nvSpPr>
          <p:cNvPr name="TextBox 14" id="14"/>
          <p:cNvSpPr txBox="true"/>
          <p:nvPr/>
        </p:nvSpPr>
        <p:spPr>
          <a:xfrm rot="0">
            <a:off x="2101104" y="4382713"/>
            <a:ext cx="3063057" cy="360807"/>
          </a:xfrm>
          <a:prstGeom prst="rect">
            <a:avLst/>
          </a:prstGeom>
        </p:spPr>
        <p:txBody>
          <a:bodyPr anchor="t" rtlCol="false" tIns="0" lIns="0" bIns="0" rIns="0">
            <a:spAutoFit/>
          </a:bodyPr>
          <a:lstStyle/>
          <a:p>
            <a:pPr algn="ctr">
              <a:lnSpc>
                <a:spcPts val="2664"/>
              </a:lnSpc>
            </a:pPr>
            <a:r>
              <a:rPr lang="en-US" sz="2400">
                <a:solidFill>
                  <a:srgbClr val="000000"/>
                </a:solidFill>
                <a:latin typeface="Poppins"/>
                <a:ea typeface="Poppins"/>
                <a:cs typeface="Poppins"/>
                <a:sym typeface="Poppins"/>
              </a:rPr>
              <a:t>Gemuk (1)</a:t>
            </a:r>
          </a:p>
        </p:txBody>
      </p:sp>
      <p:sp>
        <p:nvSpPr>
          <p:cNvPr name="TextBox 15" id="15"/>
          <p:cNvSpPr txBox="true"/>
          <p:nvPr/>
        </p:nvSpPr>
        <p:spPr>
          <a:xfrm rot="0">
            <a:off x="2101104" y="7133849"/>
            <a:ext cx="3063057" cy="694182"/>
          </a:xfrm>
          <a:prstGeom prst="rect">
            <a:avLst/>
          </a:prstGeom>
        </p:spPr>
        <p:txBody>
          <a:bodyPr anchor="t" rtlCol="false" tIns="0" lIns="0" bIns="0" rIns="0">
            <a:spAutoFit/>
          </a:bodyPr>
          <a:lstStyle/>
          <a:p>
            <a:pPr algn="ctr" marL="518160" indent="-259080" lvl="1">
              <a:lnSpc>
                <a:spcPts val="2664"/>
              </a:lnSpc>
              <a:buFont typeface="Arial"/>
              <a:buChar char="•"/>
            </a:pPr>
            <a:r>
              <a:rPr lang="en-US" sz="2400">
                <a:solidFill>
                  <a:srgbClr val="000000"/>
                </a:solidFill>
                <a:latin typeface="Poppins"/>
                <a:ea typeface="Poppins"/>
                <a:cs typeface="Poppins"/>
                <a:sym typeface="Poppins"/>
              </a:rPr>
              <a:t>Rendah (0.8)</a:t>
            </a:r>
          </a:p>
          <a:p>
            <a:pPr algn="ctr" marL="518160" indent="-259080" lvl="1">
              <a:lnSpc>
                <a:spcPts val="2664"/>
              </a:lnSpc>
              <a:buFont typeface="Arial"/>
              <a:buChar char="•"/>
            </a:pPr>
            <a:r>
              <a:rPr lang="en-US" sz="2400">
                <a:solidFill>
                  <a:srgbClr val="000000"/>
                </a:solidFill>
                <a:latin typeface="Poppins"/>
                <a:ea typeface="Poppins"/>
                <a:cs typeface="Poppins"/>
                <a:sym typeface="Poppins"/>
              </a:rPr>
              <a:t>Sedang (0.2)</a:t>
            </a:r>
          </a:p>
        </p:txBody>
      </p:sp>
      <p:grpSp>
        <p:nvGrpSpPr>
          <p:cNvPr name="Group 16" id="16"/>
          <p:cNvGrpSpPr/>
          <p:nvPr/>
        </p:nvGrpSpPr>
        <p:grpSpPr>
          <a:xfrm rot="0">
            <a:off x="5984745" y="3625899"/>
            <a:ext cx="4198579" cy="4625003"/>
            <a:chOff x="0" y="0"/>
            <a:chExt cx="812800" cy="895351"/>
          </a:xfrm>
        </p:grpSpPr>
        <p:sp>
          <p:nvSpPr>
            <p:cNvPr name="Freeform 17" id="17"/>
            <p:cNvSpPr/>
            <p:nvPr/>
          </p:nvSpPr>
          <p:spPr>
            <a:xfrm flipH="false" flipV="false" rot="0">
              <a:off x="0" y="0"/>
              <a:ext cx="812800" cy="895351"/>
            </a:xfrm>
            <a:custGeom>
              <a:avLst/>
              <a:gdLst/>
              <a:ahLst/>
              <a:cxnLst/>
              <a:rect r="r" b="b" t="t" l="l"/>
              <a:pathLst>
                <a:path h="895351" w="812800">
                  <a:moveTo>
                    <a:pt x="812800" y="447676"/>
                  </a:moveTo>
                  <a:lnTo>
                    <a:pt x="406400" y="0"/>
                  </a:lnTo>
                  <a:lnTo>
                    <a:pt x="406400" y="203200"/>
                  </a:lnTo>
                  <a:lnTo>
                    <a:pt x="0" y="203200"/>
                  </a:lnTo>
                  <a:lnTo>
                    <a:pt x="0" y="692151"/>
                  </a:lnTo>
                  <a:lnTo>
                    <a:pt x="406400" y="692151"/>
                  </a:lnTo>
                  <a:lnTo>
                    <a:pt x="406400" y="895351"/>
                  </a:lnTo>
                  <a:lnTo>
                    <a:pt x="812800" y="447676"/>
                  </a:lnTo>
                  <a:close/>
                </a:path>
              </a:pathLst>
            </a:custGeom>
            <a:solidFill>
              <a:srgbClr val="5E17EB"/>
            </a:solidFill>
          </p:spPr>
        </p:sp>
        <p:sp>
          <p:nvSpPr>
            <p:cNvPr name="TextBox 18" id="18"/>
            <p:cNvSpPr txBox="true"/>
            <p:nvPr/>
          </p:nvSpPr>
          <p:spPr>
            <a:xfrm>
              <a:off x="0" y="193675"/>
              <a:ext cx="711200" cy="498476"/>
            </a:xfrm>
            <a:prstGeom prst="rect">
              <a:avLst/>
            </a:prstGeom>
          </p:spPr>
          <p:txBody>
            <a:bodyPr anchor="ctr" rtlCol="false" tIns="50800" lIns="50800" bIns="50800" rIns="50800"/>
            <a:lstStyle/>
            <a:p>
              <a:pPr algn="ctr">
                <a:lnSpc>
                  <a:spcPts val="222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982928" y="6128306"/>
            <a:ext cx="7157748" cy="715774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17EB"/>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2318668" y="1425929"/>
            <a:ext cx="4746099" cy="8566178"/>
            <a:chOff x="0" y="0"/>
            <a:chExt cx="6328132" cy="11421570"/>
          </a:xfrm>
        </p:grpSpPr>
        <p:sp>
          <p:nvSpPr>
            <p:cNvPr name="Freeform 6" id="6"/>
            <p:cNvSpPr/>
            <p:nvPr/>
          </p:nvSpPr>
          <p:spPr>
            <a:xfrm flipH="false" flipV="false" rot="0">
              <a:off x="0" y="0"/>
              <a:ext cx="6328132" cy="8070604"/>
            </a:xfrm>
            <a:custGeom>
              <a:avLst/>
              <a:gdLst/>
              <a:ahLst/>
              <a:cxnLst/>
              <a:rect r="r" b="b" t="t" l="l"/>
              <a:pathLst>
                <a:path h="8070604" w="6328132">
                  <a:moveTo>
                    <a:pt x="0" y="0"/>
                  </a:moveTo>
                  <a:lnTo>
                    <a:pt x="6328132" y="0"/>
                  </a:lnTo>
                  <a:lnTo>
                    <a:pt x="6328132" y="8070604"/>
                  </a:lnTo>
                  <a:lnTo>
                    <a:pt x="0" y="8070604"/>
                  </a:lnTo>
                  <a:lnTo>
                    <a:pt x="0" y="0"/>
                  </a:lnTo>
                  <a:close/>
                </a:path>
              </a:pathLst>
            </a:custGeom>
            <a:blipFill>
              <a:blip r:embed="rId2"/>
              <a:stretch>
                <a:fillRect l="0" t="-5746" r="-1080" b="0"/>
              </a:stretch>
            </a:blipFill>
          </p:spPr>
        </p:sp>
        <p:sp>
          <p:nvSpPr>
            <p:cNvPr name="Freeform 7" id="7"/>
            <p:cNvSpPr/>
            <p:nvPr/>
          </p:nvSpPr>
          <p:spPr>
            <a:xfrm flipH="false" flipV="false" rot="0">
              <a:off x="0" y="8070604"/>
              <a:ext cx="6328132" cy="3350966"/>
            </a:xfrm>
            <a:custGeom>
              <a:avLst/>
              <a:gdLst/>
              <a:ahLst/>
              <a:cxnLst/>
              <a:rect r="r" b="b" t="t" l="l"/>
              <a:pathLst>
                <a:path h="3350966" w="6328132">
                  <a:moveTo>
                    <a:pt x="0" y="0"/>
                  </a:moveTo>
                  <a:lnTo>
                    <a:pt x="6328132" y="0"/>
                  </a:lnTo>
                  <a:lnTo>
                    <a:pt x="6328132" y="3350966"/>
                  </a:lnTo>
                  <a:lnTo>
                    <a:pt x="0" y="3350966"/>
                  </a:lnTo>
                  <a:lnTo>
                    <a:pt x="0" y="0"/>
                  </a:lnTo>
                  <a:close/>
                </a:path>
              </a:pathLst>
            </a:custGeom>
            <a:blipFill>
              <a:blip r:embed="rId3"/>
              <a:stretch>
                <a:fillRect l="0" t="-4776" r="-843" b="-4776"/>
              </a:stretch>
            </a:blipFill>
          </p:spPr>
        </p:sp>
      </p:grpSp>
      <p:sp>
        <p:nvSpPr>
          <p:cNvPr name="Freeform 8" id="8"/>
          <p:cNvSpPr/>
          <p:nvPr/>
        </p:nvSpPr>
        <p:spPr>
          <a:xfrm flipH="false" flipV="false" rot="0">
            <a:off x="1028700" y="1970164"/>
            <a:ext cx="8115300" cy="5942370"/>
          </a:xfrm>
          <a:custGeom>
            <a:avLst/>
            <a:gdLst/>
            <a:ahLst/>
            <a:cxnLst/>
            <a:rect r="r" b="b" t="t" l="l"/>
            <a:pathLst>
              <a:path h="5942370" w="8115300">
                <a:moveTo>
                  <a:pt x="0" y="0"/>
                </a:moveTo>
                <a:lnTo>
                  <a:pt x="8115300" y="0"/>
                </a:lnTo>
                <a:lnTo>
                  <a:pt x="8115300" y="5942370"/>
                </a:lnTo>
                <a:lnTo>
                  <a:pt x="0" y="5942370"/>
                </a:lnTo>
                <a:lnTo>
                  <a:pt x="0" y="0"/>
                </a:lnTo>
                <a:close/>
              </a:path>
            </a:pathLst>
          </a:custGeom>
          <a:blipFill>
            <a:blip r:embed="rId4"/>
            <a:stretch>
              <a:fillRect l="0" t="-9470" r="0" b="0"/>
            </a:stretch>
          </a:blipFill>
        </p:spPr>
      </p:sp>
      <p:sp>
        <p:nvSpPr>
          <p:cNvPr name="TextBox 9" id="9"/>
          <p:cNvSpPr txBox="true"/>
          <p:nvPr/>
        </p:nvSpPr>
        <p:spPr>
          <a:xfrm rot="0">
            <a:off x="1028700" y="8340091"/>
            <a:ext cx="9451062" cy="918209"/>
          </a:xfrm>
          <a:prstGeom prst="rect">
            <a:avLst/>
          </a:prstGeom>
        </p:spPr>
        <p:txBody>
          <a:bodyPr anchor="t" rtlCol="false" tIns="0" lIns="0" bIns="0" rIns="0">
            <a:spAutoFit/>
          </a:bodyPr>
          <a:lstStyle/>
          <a:p>
            <a:pPr algn="l">
              <a:lnSpc>
                <a:spcPts val="3600"/>
              </a:lnSpc>
            </a:pPr>
            <a:r>
              <a:rPr lang="en-US" sz="2400">
                <a:solidFill>
                  <a:srgbClr val="000000"/>
                </a:solidFill>
                <a:latin typeface="Poppins"/>
                <a:ea typeface="Poppins"/>
                <a:cs typeface="Poppins"/>
                <a:sym typeface="Poppins"/>
              </a:rPr>
              <a:t>Proses penalaran berdasarkan rule/aturan yang dibuat (aturan IF THEN)</a:t>
            </a:r>
          </a:p>
        </p:txBody>
      </p:sp>
      <p:sp>
        <p:nvSpPr>
          <p:cNvPr name="TextBox 10" id="10"/>
          <p:cNvSpPr txBox="true"/>
          <p:nvPr/>
        </p:nvSpPr>
        <p:spPr>
          <a:xfrm rot="0">
            <a:off x="1028700" y="660083"/>
            <a:ext cx="7578374" cy="899160"/>
          </a:xfrm>
          <a:prstGeom prst="rect">
            <a:avLst/>
          </a:prstGeom>
        </p:spPr>
        <p:txBody>
          <a:bodyPr anchor="t" rtlCol="false" tIns="0" lIns="0" bIns="0" rIns="0">
            <a:spAutoFit/>
          </a:bodyPr>
          <a:lstStyle/>
          <a:p>
            <a:pPr algn="l">
              <a:lnSpc>
                <a:spcPts val="6719"/>
              </a:lnSpc>
            </a:pPr>
            <a:r>
              <a:rPr lang="en-US" sz="6999" spc="195">
                <a:solidFill>
                  <a:srgbClr val="5E17EB"/>
                </a:solidFill>
                <a:latin typeface="Alfa Slab One"/>
                <a:ea typeface="Alfa Slab One"/>
                <a:cs typeface="Alfa Slab One"/>
                <a:sym typeface="Alfa Slab One"/>
              </a:rPr>
              <a:t>Inference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982928" y="6128306"/>
            <a:ext cx="7157748" cy="715774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17EB"/>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028700" y="1753267"/>
            <a:ext cx="4746099" cy="7953913"/>
            <a:chOff x="0" y="0"/>
            <a:chExt cx="6328132" cy="10605218"/>
          </a:xfrm>
        </p:grpSpPr>
        <p:sp>
          <p:nvSpPr>
            <p:cNvPr name="Freeform 6" id="6"/>
            <p:cNvSpPr/>
            <p:nvPr/>
          </p:nvSpPr>
          <p:spPr>
            <a:xfrm flipH="false" flipV="false" rot="0">
              <a:off x="0" y="0"/>
              <a:ext cx="6328132" cy="7254251"/>
            </a:xfrm>
            <a:custGeom>
              <a:avLst/>
              <a:gdLst/>
              <a:ahLst/>
              <a:cxnLst/>
              <a:rect r="r" b="b" t="t" l="l"/>
              <a:pathLst>
                <a:path h="7254251" w="6328132">
                  <a:moveTo>
                    <a:pt x="0" y="0"/>
                  </a:moveTo>
                  <a:lnTo>
                    <a:pt x="6328132" y="0"/>
                  </a:lnTo>
                  <a:lnTo>
                    <a:pt x="6328132" y="7254251"/>
                  </a:lnTo>
                  <a:lnTo>
                    <a:pt x="0" y="7254251"/>
                  </a:lnTo>
                  <a:lnTo>
                    <a:pt x="0" y="0"/>
                  </a:lnTo>
                  <a:close/>
                </a:path>
              </a:pathLst>
            </a:custGeom>
            <a:blipFill>
              <a:blip r:embed="rId2"/>
              <a:stretch>
                <a:fillRect l="0" t="-17646" r="-1080" b="0"/>
              </a:stretch>
            </a:blipFill>
          </p:spPr>
        </p:sp>
        <p:sp>
          <p:nvSpPr>
            <p:cNvPr name="Freeform 7" id="7"/>
            <p:cNvSpPr/>
            <p:nvPr/>
          </p:nvSpPr>
          <p:spPr>
            <a:xfrm flipH="false" flipV="false" rot="0">
              <a:off x="0" y="7254251"/>
              <a:ext cx="6328132" cy="3350966"/>
            </a:xfrm>
            <a:custGeom>
              <a:avLst/>
              <a:gdLst/>
              <a:ahLst/>
              <a:cxnLst/>
              <a:rect r="r" b="b" t="t" l="l"/>
              <a:pathLst>
                <a:path h="3350966" w="6328132">
                  <a:moveTo>
                    <a:pt x="0" y="0"/>
                  </a:moveTo>
                  <a:lnTo>
                    <a:pt x="6328132" y="0"/>
                  </a:lnTo>
                  <a:lnTo>
                    <a:pt x="6328132" y="3350967"/>
                  </a:lnTo>
                  <a:lnTo>
                    <a:pt x="0" y="3350967"/>
                  </a:lnTo>
                  <a:lnTo>
                    <a:pt x="0" y="0"/>
                  </a:lnTo>
                  <a:close/>
                </a:path>
              </a:pathLst>
            </a:custGeom>
            <a:blipFill>
              <a:blip r:embed="rId3"/>
              <a:stretch>
                <a:fillRect l="0" t="-4776" r="-843" b="-4776"/>
              </a:stretch>
            </a:blipFill>
          </p:spPr>
        </p:sp>
      </p:grpSp>
      <p:sp>
        <p:nvSpPr>
          <p:cNvPr name="TextBox 8" id="8"/>
          <p:cNvSpPr txBox="true"/>
          <p:nvPr/>
        </p:nvSpPr>
        <p:spPr>
          <a:xfrm rot="0">
            <a:off x="1028700" y="593408"/>
            <a:ext cx="16230600" cy="584837"/>
          </a:xfrm>
          <a:prstGeom prst="rect">
            <a:avLst/>
          </a:prstGeom>
        </p:spPr>
        <p:txBody>
          <a:bodyPr anchor="t" rtlCol="false" tIns="0" lIns="0" bIns="0" rIns="0">
            <a:spAutoFit/>
          </a:bodyPr>
          <a:lstStyle/>
          <a:p>
            <a:pPr algn="l">
              <a:lnSpc>
                <a:spcPts val="4320"/>
              </a:lnSpc>
            </a:pPr>
            <a:r>
              <a:rPr lang="en-US" sz="4500" spc="126">
                <a:solidFill>
                  <a:srgbClr val="5E17EB"/>
                </a:solidFill>
                <a:latin typeface="Alfa Slab One"/>
                <a:ea typeface="Alfa Slab One"/>
                <a:cs typeface="Alfa Slab One"/>
                <a:sym typeface="Alfa Slab One"/>
              </a:rPr>
              <a:t>Masukkan Fuzzi input ke daftar aturan</a:t>
            </a:r>
          </a:p>
        </p:txBody>
      </p:sp>
      <p:sp>
        <p:nvSpPr>
          <p:cNvPr name="TextBox 9" id="9"/>
          <p:cNvSpPr txBox="true"/>
          <p:nvPr/>
        </p:nvSpPr>
        <p:spPr>
          <a:xfrm rot="0">
            <a:off x="10538379" y="1765672"/>
            <a:ext cx="3142624" cy="432397"/>
          </a:xfrm>
          <a:prstGeom prst="rect">
            <a:avLst/>
          </a:prstGeom>
        </p:spPr>
        <p:txBody>
          <a:bodyPr anchor="t" rtlCol="false" tIns="0" lIns="0" bIns="0" rIns="0">
            <a:spAutoFit/>
          </a:bodyPr>
          <a:lstStyle/>
          <a:p>
            <a:pPr algn="ctr">
              <a:lnSpc>
                <a:spcPts val="3141"/>
              </a:lnSpc>
              <a:spcBef>
                <a:spcPct val="0"/>
              </a:spcBef>
            </a:pPr>
            <a:r>
              <a:rPr lang="en-US" b="true" sz="2829">
                <a:solidFill>
                  <a:srgbClr val="000000"/>
                </a:solidFill>
                <a:latin typeface="Poppins Bold"/>
                <a:ea typeface="Poppins Bold"/>
                <a:cs typeface="Poppins Bold"/>
                <a:sym typeface="Poppins Bold"/>
              </a:rPr>
              <a:t>Nilai IMT = 26,99</a:t>
            </a:r>
          </a:p>
        </p:txBody>
      </p:sp>
      <p:sp>
        <p:nvSpPr>
          <p:cNvPr name="TextBox 10" id="10"/>
          <p:cNvSpPr txBox="true"/>
          <p:nvPr/>
        </p:nvSpPr>
        <p:spPr>
          <a:xfrm rot="0">
            <a:off x="14688171" y="1743742"/>
            <a:ext cx="3599829" cy="432404"/>
          </a:xfrm>
          <a:prstGeom prst="rect">
            <a:avLst/>
          </a:prstGeom>
        </p:spPr>
        <p:txBody>
          <a:bodyPr anchor="t" rtlCol="false" tIns="0" lIns="0" bIns="0" rIns="0">
            <a:spAutoFit/>
          </a:bodyPr>
          <a:lstStyle/>
          <a:p>
            <a:pPr algn="l">
              <a:lnSpc>
                <a:spcPts val="3141"/>
              </a:lnSpc>
            </a:pPr>
            <a:r>
              <a:rPr lang="en-US" sz="2830" b="true">
                <a:solidFill>
                  <a:srgbClr val="000000"/>
                </a:solidFill>
                <a:latin typeface="Poppins Bold"/>
                <a:ea typeface="Poppins Bold"/>
                <a:cs typeface="Poppins Bold"/>
                <a:sym typeface="Poppins Bold"/>
              </a:rPr>
              <a:t>Nilai PHQ = 11</a:t>
            </a:r>
          </a:p>
        </p:txBody>
      </p:sp>
      <p:sp>
        <p:nvSpPr>
          <p:cNvPr name="TextBox 11" id="11"/>
          <p:cNvSpPr txBox="true"/>
          <p:nvPr/>
        </p:nvSpPr>
        <p:spPr>
          <a:xfrm rot="0">
            <a:off x="10680206" y="2335234"/>
            <a:ext cx="2858969" cy="360807"/>
          </a:xfrm>
          <a:prstGeom prst="rect">
            <a:avLst/>
          </a:prstGeom>
        </p:spPr>
        <p:txBody>
          <a:bodyPr anchor="t" rtlCol="false" tIns="0" lIns="0" bIns="0" rIns="0">
            <a:spAutoFit/>
          </a:bodyPr>
          <a:lstStyle/>
          <a:p>
            <a:pPr algn="l">
              <a:lnSpc>
                <a:spcPts val="2664"/>
              </a:lnSpc>
            </a:pPr>
            <a:r>
              <a:rPr lang="en-US" sz="2400">
                <a:solidFill>
                  <a:srgbClr val="000000"/>
                </a:solidFill>
                <a:latin typeface="Poppins"/>
                <a:ea typeface="Poppins"/>
                <a:cs typeface="Poppins"/>
                <a:sym typeface="Poppins"/>
              </a:rPr>
              <a:t>Gemuk (1)</a:t>
            </a:r>
          </a:p>
        </p:txBody>
      </p:sp>
      <p:sp>
        <p:nvSpPr>
          <p:cNvPr name="TextBox 12" id="12"/>
          <p:cNvSpPr txBox="true"/>
          <p:nvPr/>
        </p:nvSpPr>
        <p:spPr>
          <a:xfrm rot="0">
            <a:off x="14688171" y="2348950"/>
            <a:ext cx="2202755" cy="694182"/>
          </a:xfrm>
          <a:prstGeom prst="rect">
            <a:avLst/>
          </a:prstGeom>
        </p:spPr>
        <p:txBody>
          <a:bodyPr anchor="t" rtlCol="false" tIns="0" lIns="0" bIns="0" rIns="0">
            <a:spAutoFit/>
          </a:bodyPr>
          <a:lstStyle/>
          <a:p>
            <a:pPr algn="l">
              <a:lnSpc>
                <a:spcPts val="2664"/>
              </a:lnSpc>
            </a:pPr>
            <a:r>
              <a:rPr lang="en-US" sz="2400">
                <a:solidFill>
                  <a:srgbClr val="000000"/>
                </a:solidFill>
                <a:latin typeface="Poppins"/>
                <a:ea typeface="Poppins"/>
                <a:cs typeface="Poppins"/>
                <a:sym typeface="Poppins"/>
              </a:rPr>
              <a:t>Rendah (0.8)</a:t>
            </a:r>
          </a:p>
          <a:p>
            <a:pPr algn="l">
              <a:lnSpc>
                <a:spcPts val="2664"/>
              </a:lnSpc>
            </a:pPr>
            <a:r>
              <a:rPr lang="en-US" sz="2400">
                <a:solidFill>
                  <a:srgbClr val="000000"/>
                </a:solidFill>
                <a:latin typeface="Poppins"/>
                <a:ea typeface="Poppins"/>
                <a:cs typeface="Poppins"/>
                <a:sym typeface="Poppins"/>
              </a:rPr>
              <a:t>Sedang (0.2)</a:t>
            </a:r>
          </a:p>
        </p:txBody>
      </p:sp>
      <p:grpSp>
        <p:nvGrpSpPr>
          <p:cNvPr name="Group 13" id="13"/>
          <p:cNvGrpSpPr/>
          <p:nvPr/>
        </p:nvGrpSpPr>
        <p:grpSpPr>
          <a:xfrm rot="0">
            <a:off x="1028700" y="3794361"/>
            <a:ext cx="6793495" cy="671185"/>
            <a:chOff x="0" y="0"/>
            <a:chExt cx="1789233" cy="176773"/>
          </a:xfrm>
        </p:grpSpPr>
        <p:sp>
          <p:nvSpPr>
            <p:cNvPr name="Freeform 14" id="14"/>
            <p:cNvSpPr/>
            <p:nvPr/>
          </p:nvSpPr>
          <p:spPr>
            <a:xfrm flipH="false" flipV="false" rot="0">
              <a:off x="0" y="0"/>
              <a:ext cx="1789233" cy="176773"/>
            </a:xfrm>
            <a:custGeom>
              <a:avLst/>
              <a:gdLst/>
              <a:ahLst/>
              <a:cxnLst/>
              <a:rect r="r" b="b" t="t" l="l"/>
              <a:pathLst>
                <a:path h="176773" w="1789233">
                  <a:moveTo>
                    <a:pt x="58120" y="0"/>
                  </a:moveTo>
                  <a:lnTo>
                    <a:pt x="1731113" y="0"/>
                  </a:lnTo>
                  <a:cubicBezTo>
                    <a:pt x="1746528" y="0"/>
                    <a:pt x="1761311" y="6123"/>
                    <a:pt x="1772210" y="17023"/>
                  </a:cubicBezTo>
                  <a:cubicBezTo>
                    <a:pt x="1783110" y="27923"/>
                    <a:pt x="1789233" y="42706"/>
                    <a:pt x="1789233" y="58120"/>
                  </a:cubicBezTo>
                  <a:lnTo>
                    <a:pt x="1789233" y="118653"/>
                  </a:lnTo>
                  <a:cubicBezTo>
                    <a:pt x="1789233" y="150752"/>
                    <a:pt x="1763212" y="176773"/>
                    <a:pt x="1731113" y="176773"/>
                  </a:cubicBezTo>
                  <a:lnTo>
                    <a:pt x="58120" y="176773"/>
                  </a:lnTo>
                  <a:cubicBezTo>
                    <a:pt x="26021" y="176773"/>
                    <a:pt x="0" y="150752"/>
                    <a:pt x="0" y="118653"/>
                  </a:cubicBezTo>
                  <a:lnTo>
                    <a:pt x="0" y="58120"/>
                  </a:lnTo>
                  <a:cubicBezTo>
                    <a:pt x="0" y="26021"/>
                    <a:pt x="26021" y="0"/>
                    <a:pt x="58120" y="0"/>
                  </a:cubicBezTo>
                  <a:close/>
                </a:path>
              </a:pathLst>
            </a:custGeom>
            <a:solidFill>
              <a:srgbClr val="5E17EB">
                <a:alpha val="26667"/>
              </a:srgbClr>
            </a:solidFill>
          </p:spPr>
        </p:sp>
        <p:sp>
          <p:nvSpPr>
            <p:cNvPr name="TextBox 15" id="15"/>
            <p:cNvSpPr txBox="true"/>
            <p:nvPr/>
          </p:nvSpPr>
          <p:spPr>
            <a:xfrm>
              <a:off x="0" y="-9525"/>
              <a:ext cx="1789233" cy="186298"/>
            </a:xfrm>
            <a:prstGeom prst="rect">
              <a:avLst/>
            </a:prstGeom>
          </p:spPr>
          <p:txBody>
            <a:bodyPr anchor="ctr" rtlCol="false" tIns="50800" lIns="50800" bIns="50800" rIns="50800"/>
            <a:lstStyle/>
            <a:p>
              <a:pPr algn="ctr">
                <a:lnSpc>
                  <a:spcPts val="2220"/>
                </a:lnSpc>
              </a:pPr>
            </a:p>
          </p:txBody>
        </p:sp>
      </p:grpSp>
      <p:sp>
        <p:nvSpPr>
          <p:cNvPr name="TextBox 16" id="16"/>
          <p:cNvSpPr txBox="true"/>
          <p:nvPr/>
        </p:nvSpPr>
        <p:spPr>
          <a:xfrm rot="0">
            <a:off x="10026907" y="6180379"/>
            <a:ext cx="6729887" cy="461009"/>
          </a:xfrm>
          <a:prstGeom prst="rect">
            <a:avLst/>
          </a:prstGeom>
        </p:spPr>
        <p:txBody>
          <a:bodyPr anchor="t" rtlCol="false" tIns="0" lIns="0" bIns="0" rIns="0">
            <a:spAutoFit/>
          </a:bodyPr>
          <a:lstStyle/>
          <a:p>
            <a:pPr algn="l">
              <a:lnSpc>
                <a:spcPts val="3600"/>
              </a:lnSpc>
            </a:pPr>
            <a:r>
              <a:rPr lang="en-US" sz="2400">
                <a:solidFill>
                  <a:srgbClr val="F5F7F8"/>
                </a:solidFill>
                <a:latin typeface="Poppins"/>
                <a:ea typeface="Poppins"/>
                <a:cs typeface="Poppins"/>
                <a:sym typeface="Poppins"/>
              </a:rPr>
              <a:t>karena </a:t>
            </a:r>
          </a:p>
        </p:txBody>
      </p:sp>
      <p:grpSp>
        <p:nvGrpSpPr>
          <p:cNvPr name="Group 17" id="17"/>
          <p:cNvGrpSpPr/>
          <p:nvPr/>
        </p:nvGrpSpPr>
        <p:grpSpPr>
          <a:xfrm rot="0">
            <a:off x="1028700" y="6458509"/>
            <a:ext cx="6793495" cy="671185"/>
            <a:chOff x="0" y="0"/>
            <a:chExt cx="1789233" cy="176773"/>
          </a:xfrm>
        </p:grpSpPr>
        <p:sp>
          <p:nvSpPr>
            <p:cNvPr name="Freeform 18" id="18"/>
            <p:cNvSpPr/>
            <p:nvPr/>
          </p:nvSpPr>
          <p:spPr>
            <a:xfrm flipH="false" flipV="false" rot="0">
              <a:off x="0" y="0"/>
              <a:ext cx="1789233" cy="176773"/>
            </a:xfrm>
            <a:custGeom>
              <a:avLst/>
              <a:gdLst/>
              <a:ahLst/>
              <a:cxnLst/>
              <a:rect r="r" b="b" t="t" l="l"/>
              <a:pathLst>
                <a:path h="176773" w="1789233">
                  <a:moveTo>
                    <a:pt x="58120" y="0"/>
                  </a:moveTo>
                  <a:lnTo>
                    <a:pt x="1731113" y="0"/>
                  </a:lnTo>
                  <a:cubicBezTo>
                    <a:pt x="1746528" y="0"/>
                    <a:pt x="1761311" y="6123"/>
                    <a:pt x="1772210" y="17023"/>
                  </a:cubicBezTo>
                  <a:cubicBezTo>
                    <a:pt x="1783110" y="27923"/>
                    <a:pt x="1789233" y="42706"/>
                    <a:pt x="1789233" y="58120"/>
                  </a:cubicBezTo>
                  <a:lnTo>
                    <a:pt x="1789233" y="118653"/>
                  </a:lnTo>
                  <a:cubicBezTo>
                    <a:pt x="1789233" y="150752"/>
                    <a:pt x="1763212" y="176773"/>
                    <a:pt x="1731113" y="176773"/>
                  </a:cubicBezTo>
                  <a:lnTo>
                    <a:pt x="58120" y="176773"/>
                  </a:lnTo>
                  <a:cubicBezTo>
                    <a:pt x="26021" y="176773"/>
                    <a:pt x="0" y="150752"/>
                    <a:pt x="0" y="118653"/>
                  </a:cubicBezTo>
                  <a:lnTo>
                    <a:pt x="0" y="58120"/>
                  </a:lnTo>
                  <a:cubicBezTo>
                    <a:pt x="0" y="26021"/>
                    <a:pt x="26021" y="0"/>
                    <a:pt x="58120" y="0"/>
                  </a:cubicBezTo>
                  <a:close/>
                </a:path>
              </a:pathLst>
            </a:custGeom>
            <a:solidFill>
              <a:srgbClr val="5E17EB">
                <a:alpha val="26667"/>
              </a:srgbClr>
            </a:solidFill>
          </p:spPr>
        </p:sp>
        <p:sp>
          <p:nvSpPr>
            <p:cNvPr name="TextBox 19" id="19"/>
            <p:cNvSpPr txBox="true"/>
            <p:nvPr/>
          </p:nvSpPr>
          <p:spPr>
            <a:xfrm>
              <a:off x="0" y="-9525"/>
              <a:ext cx="1789233" cy="186298"/>
            </a:xfrm>
            <a:prstGeom prst="rect">
              <a:avLst/>
            </a:prstGeom>
          </p:spPr>
          <p:txBody>
            <a:bodyPr anchor="ctr" rtlCol="false" tIns="50800" lIns="50800" bIns="50800" rIns="50800"/>
            <a:lstStyle/>
            <a:p>
              <a:pPr algn="ctr">
                <a:lnSpc>
                  <a:spcPts val="2220"/>
                </a:lnSpc>
              </a:pPr>
            </a:p>
          </p:txBody>
        </p:sp>
      </p:grpSp>
      <p:sp>
        <p:nvSpPr>
          <p:cNvPr name="TextBox 20" id="20"/>
          <p:cNvSpPr txBox="true"/>
          <p:nvPr/>
        </p:nvSpPr>
        <p:spPr>
          <a:xfrm rot="0">
            <a:off x="6789962" y="3949550"/>
            <a:ext cx="1032233" cy="360807"/>
          </a:xfrm>
          <a:prstGeom prst="rect">
            <a:avLst/>
          </a:prstGeom>
        </p:spPr>
        <p:txBody>
          <a:bodyPr anchor="t" rtlCol="false" tIns="0" lIns="0" bIns="0" rIns="0">
            <a:spAutoFit/>
          </a:bodyPr>
          <a:lstStyle/>
          <a:p>
            <a:pPr algn="l">
              <a:lnSpc>
                <a:spcPts val="2664"/>
              </a:lnSpc>
            </a:pPr>
            <a:r>
              <a:rPr lang="en-US" sz="2400">
                <a:solidFill>
                  <a:srgbClr val="000000"/>
                </a:solidFill>
                <a:latin typeface="Poppins"/>
                <a:ea typeface="Poppins"/>
                <a:cs typeface="Poppins"/>
                <a:sym typeface="Poppins"/>
              </a:rPr>
              <a:t>(0.8)</a:t>
            </a:r>
          </a:p>
        </p:txBody>
      </p:sp>
      <p:sp>
        <p:nvSpPr>
          <p:cNvPr name="TextBox 21" id="21"/>
          <p:cNvSpPr txBox="true"/>
          <p:nvPr/>
        </p:nvSpPr>
        <p:spPr>
          <a:xfrm rot="0">
            <a:off x="6789962" y="6613698"/>
            <a:ext cx="1032233" cy="360807"/>
          </a:xfrm>
          <a:prstGeom prst="rect">
            <a:avLst/>
          </a:prstGeom>
        </p:spPr>
        <p:txBody>
          <a:bodyPr anchor="t" rtlCol="false" tIns="0" lIns="0" bIns="0" rIns="0">
            <a:spAutoFit/>
          </a:bodyPr>
          <a:lstStyle/>
          <a:p>
            <a:pPr algn="l">
              <a:lnSpc>
                <a:spcPts val="2664"/>
              </a:lnSpc>
            </a:pPr>
            <a:r>
              <a:rPr lang="en-US" sz="2400">
                <a:solidFill>
                  <a:srgbClr val="000000"/>
                </a:solidFill>
                <a:latin typeface="Poppins"/>
                <a:ea typeface="Poppins"/>
                <a:cs typeface="Poppins"/>
                <a:sym typeface="Poppins"/>
              </a:rPr>
              <a:t>(0.2)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982928" y="6128306"/>
            <a:ext cx="7157748" cy="715774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17EB"/>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028700" y="1753267"/>
            <a:ext cx="4746099" cy="7953913"/>
            <a:chOff x="0" y="0"/>
            <a:chExt cx="6328132" cy="10605218"/>
          </a:xfrm>
        </p:grpSpPr>
        <p:sp>
          <p:nvSpPr>
            <p:cNvPr name="Freeform 6" id="6"/>
            <p:cNvSpPr/>
            <p:nvPr/>
          </p:nvSpPr>
          <p:spPr>
            <a:xfrm flipH="false" flipV="false" rot="0">
              <a:off x="0" y="0"/>
              <a:ext cx="6328132" cy="7254251"/>
            </a:xfrm>
            <a:custGeom>
              <a:avLst/>
              <a:gdLst/>
              <a:ahLst/>
              <a:cxnLst/>
              <a:rect r="r" b="b" t="t" l="l"/>
              <a:pathLst>
                <a:path h="7254251" w="6328132">
                  <a:moveTo>
                    <a:pt x="0" y="0"/>
                  </a:moveTo>
                  <a:lnTo>
                    <a:pt x="6328132" y="0"/>
                  </a:lnTo>
                  <a:lnTo>
                    <a:pt x="6328132" y="7254251"/>
                  </a:lnTo>
                  <a:lnTo>
                    <a:pt x="0" y="7254251"/>
                  </a:lnTo>
                  <a:lnTo>
                    <a:pt x="0" y="0"/>
                  </a:lnTo>
                  <a:close/>
                </a:path>
              </a:pathLst>
            </a:custGeom>
            <a:blipFill>
              <a:blip r:embed="rId2"/>
              <a:stretch>
                <a:fillRect l="0" t="-17646" r="-1080" b="0"/>
              </a:stretch>
            </a:blipFill>
          </p:spPr>
        </p:sp>
        <p:sp>
          <p:nvSpPr>
            <p:cNvPr name="Freeform 7" id="7"/>
            <p:cNvSpPr/>
            <p:nvPr/>
          </p:nvSpPr>
          <p:spPr>
            <a:xfrm flipH="false" flipV="false" rot="0">
              <a:off x="0" y="7254251"/>
              <a:ext cx="6328132" cy="3350966"/>
            </a:xfrm>
            <a:custGeom>
              <a:avLst/>
              <a:gdLst/>
              <a:ahLst/>
              <a:cxnLst/>
              <a:rect r="r" b="b" t="t" l="l"/>
              <a:pathLst>
                <a:path h="3350966" w="6328132">
                  <a:moveTo>
                    <a:pt x="0" y="0"/>
                  </a:moveTo>
                  <a:lnTo>
                    <a:pt x="6328132" y="0"/>
                  </a:lnTo>
                  <a:lnTo>
                    <a:pt x="6328132" y="3350967"/>
                  </a:lnTo>
                  <a:lnTo>
                    <a:pt x="0" y="3350967"/>
                  </a:lnTo>
                  <a:lnTo>
                    <a:pt x="0" y="0"/>
                  </a:lnTo>
                  <a:close/>
                </a:path>
              </a:pathLst>
            </a:custGeom>
            <a:blipFill>
              <a:blip r:embed="rId3"/>
              <a:stretch>
                <a:fillRect l="0" t="-4776" r="-843" b="-4776"/>
              </a:stretch>
            </a:blipFill>
          </p:spPr>
        </p:sp>
      </p:grpSp>
      <p:sp>
        <p:nvSpPr>
          <p:cNvPr name="TextBox 8" id="8"/>
          <p:cNvSpPr txBox="true"/>
          <p:nvPr/>
        </p:nvSpPr>
        <p:spPr>
          <a:xfrm rot="0">
            <a:off x="1028700" y="593408"/>
            <a:ext cx="16230600" cy="584837"/>
          </a:xfrm>
          <a:prstGeom prst="rect">
            <a:avLst/>
          </a:prstGeom>
        </p:spPr>
        <p:txBody>
          <a:bodyPr anchor="t" rtlCol="false" tIns="0" lIns="0" bIns="0" rIns="0">
            <a:spAutoFit/>
          </a:bodyPr>
          <a:lstStyle/>
          <a:p>
            <a:pPr algn="l">
              <a:lnSpc>
                <a:spcPts val="4320"/>
              </a:lnSpc>
            </a:pPr>
            <a:r>
              <a:rPr lang="en-US" sz="4500" spc="126">
                <a:solidFill>
                  <a:srgbClr val="5E17EB"/>
                </a:solidFill>
                <a:latin typeface="Alfa Slab One"/>
                <a:ea typeface="Alfa Slab One"/>
                <a:cs typeface="Alfa Slab One"/>
                <a:sym typeface="Alfa Slab One"/>
              </a:rPr>
              <a:t>Masukkan Fuzzi input ke daftar aturan</a:t>
            </a:r>
          </a:p>
        </p:txBody>
      </p:sp>
      <p:grpSp>
        <p:nvGrpSpPr>
          <p:cNvPr name="Group 9" id="9"/>
          <p:cNvGrpSpPr/>
          <p:nvPr/>
        </p:nvGrpSpPr>
        <p:grpSpPr>
          <a:xfrm rot="0">
            <a:off x="10538379" y="1753267"/>
            <a:ext cx="7749621" cy="1289865"/>
            <a:chOff x="0" y="0"/>
            <a:chExt cx="10332828" cy="1719819"/>
          </a:xfrm>
        </p:grpSpPr>
        <p:sp>
          <p:nvSpPr>
            <p:cNvPr name="TextBox 10" id="10"/>
            <p:cNvSpPr txBox="true"/>
            <p:nvPr/>
          </p:nvSpPr>
          <p:spPr>
            <a:xfrm rot="0">
              <a:off x="0" y="19715"/>
              <a:ext cx="4190165" cy="573354"/>
            </a:xfrm>
            <a:prstGeom prst="rect">
              <a:avLst/>
            </a:prstGeom>
          </p:spPr>
          <p:txBody>
            <a:bodyPr anchor="t" rtlCol="false" tIns="0" lIns="0" bIns="0" rIns="0">
              <a:spAutoFit/>
            </a:bodyPr>
            <a:lstStyle/>
            <a:p>
              <a:pPr algn="ctr">
                <a:lnSpc>
                  <a:spcPts val="3141"/>
                </a:lnSpc>
                <a:spcBef>
                  <a:spcPct val="0"/>
                </a:spcBef>
              </a:pPr>
              <a:r>
                <a:rPr lang="en-US" b="true" sz="2829">
                  <a:solidFill>
                    <a:srgbClr val="000000"/>
                  </a:solidFill>
                  <a:latin typeface="Poppins Bold"/>
                  <a:ea typeface="Poppins Bold"/>
                  <a:cs typeface="Poppins Bold"/>
                  <a:sym typeface="Poppins Bold"/>
                </a:rPr>
                <a:t>Nilai IMT = 26,99</a:t>
              </a:r>
            </a:p>
          </p:txBody>
        </p:sp>
        <p:sp>
          <p:nvSpPr>
            <p:cNvPr name="TextBox 11" id="11"/>
            <p:cNvSpPr txBox="true"/>
            <p:nvPr/>
          </p:nvSpPr>
          <p:spPr>
            <a:xfrm rot="0">
              <a:off x="5533057" y="-9525"/>
              <a:ext cx="4799772" cy="573363"/>
            </a:xfrm>
            <a:prstGeom prst="rect">
              <a:avLst/>
            </a:prstGeom>
          </p:spPr>
          <p:txBody>
            <a:bodyPr anchor="t" rtlCol="false" tIns="0" lIns="0" bIns="0" rIns="0">
              <a:spAutoFit/>
            </a:bodyPr>
            <a:lstStyle/>
            <a:p>
              <a:pPr algn="l">
                <a:lnSpc>
                  <a:spcPts val="3141"/>
                </a:lnSpc>
              </a:pPr>
              <a:r>
                <a:rPr lang="en-US" sz="2830" b="true">
                  <a:solidFill>
                    <a:srgbClr val="000000"/>
                  </a:solidFill>
                  <a:latin typeface="Poppins Bold"/>
                  <a:ea typeface="Poppins Bold"/>
                  <a:cs typeface="Poppins Bold"/>
                  <a:sym typeface="Poppins Bold"/>
                </a:rPr>
                <a:t>Nilai PHQ = 11</a:t>
              </a:r>
            </a:p>
          </p:txBody>
        </p:sp>
        <p:sp>
          <p:nvSpPr>
            <p:cNvPr name="TextBox 12" id="12"/>
            <p:cNvSpPr txBox="true"/>
            <p:nvPr/>
          </p:nvSpPr>
          <p:spPr>
            <a:xfrm rot="0">
              <a:off x="189103" y="775955"/>
              <a:ext cx="3811959" cy="481076"/>
            </a:xfrm>
            <a:prstGeom prst="rect">
              <a:avLst/>
            </a:prstGeom>
          </p:spPr>
          <p:txBody>
            <a:bodyPr anchor="t" rtlCol="false" tIns="0" lIns="0" bIns="0" rIns="0">
              <a:spAutoFit/>
            </a:bodyPr>
            <a:lstStyle/>
            <a:p>
              <a:pPr algn="l">
                <a:lnSpc>
                  <a:spcPts val="2664"/>
                </a:lnSpc>
              </a:pPr>
              <a:r>
                <a:rPr lang="en-US" sz="2400">
                  <a:solidFill>
                    <a:srgbClr val="000000"/>
                  </a:solidFill>
                  <a:latin typeface="Poppins"/>
                  <a:ea typeface="Poppins"/>
                  <a:cs typeface="Poppins"/>
                  <a:sym typeface="Poppins"/>
                </a:rPr>
                <a:t>Gemuk (1)</a:t>
              </a:r>
            </a:p>
          </p:txBody>
        </p:sp>
        <p:sp>
          <p:nvSpPr>
            <p:cNvPr name="TextBox 13" id="13"/>
            <p:cNvSpPr txBox="true"/>
            <p:nvPr/>
          </p:nvSpPr>
          <p:spPr>
            <a:xfrm rot="0">
              <a:off x="5533057" y="794243"/>
              <a:ext cx="2937006" cy="925576"/>
            </a:xfrm>
            <a:prstGeom prst="rect">
              <a:avLst/>
            </a:prstGeom>
          </p:spPr>
          <p:txBody>
            <a:bodyPr anchor="t" rtlCol="false" tIns="0" lIns="0" bIns="0" rIns="0">
              <a:spAutoFit/>
            </a:bodyPr>
            <a:lstStyle/>
            <a:p>
              <a:pPr algn="l">
                <a:lnSpc>
                  <a:spcPts val="2664"/>
                </a:lnSpc>
              </a:pPr>
              <a:r>
                <a:rPr lang="en-US" sz="2400">
                  <a:solidFill>
                    <a:srgbClr val="000000"/>
                  </a:solidFill>
                  <a:latin typeface="Poppins"/>
                  <a:ea typeface="Poppins"/>
                  <a:cs typeface="Poppins"/>
                  <a:sym typeface="Poppins"/>
                </a:rPr>
                <a:t>Rendah (0.8)</a:t>
              </a:r>
            </a:p>
            <a:p>
              <a:pPr algn="l">
                <a:lnSpc>
                  <a:spcPts val="2664"/>
                </a:lnSpc>
              </a:pPr>
              <a:r>
                <a:rPr lang="en-US" sz="2400">
                  <a:solidFill>
                    <a:srgbClr val="000000"/>
                  </a:solidFill>
                  <a:latin typeface="Poppins"/>
                  <a:ea typeface="Poppins"/>
                  <a:cs typeface="Poppins"/>
                  <a:sym typeface="Poppins"/>
                </a:rPr>
                <a:t>Sedang (0.2)</a:t>
              </a:r>
            </a:p>
          </p:txBody>
        </p:sp>
      </p:grpSp>
      <p:grpSp>
        <p:nvGrpSpPr>
          <p:cNvPr name="Group 14" id="14"/>
          <p:cNvGrpSpPr/>
          <p:nvPr/>
        </p:nvGrpSpPr>
        <p:grpSpPr>
          <a:xfrm rot="0">
            <a:off x="9805691" y="3614632"/>
            <a:ext cx="7401266" cy="2314418"/>
            <a:chOff x="0" y="0"/>
            <a:chExt cx="1949305" cy="609559"/>
          </a:xfrm>
        </p:grpSpPr>
        <p:sp>
          <p:nvSpPr>
            <p:cNvPr name="Freeform 15" id="15"/>
            <p:cNvSpPr/>
            <p:nvPr/>
          </p:nvSpPr>
          <p:spPr>
            <a:xfrm flipH="false" flipV="false" rot="0">
              <a:off x="0" y="0"/>
              <a:ext cx="1949304" cy="609559"/>
            </a:xfrm>
            <a:custGeom>
              <a:avLst/>
              <a:gdLst/>
              <a:ahLst/>
              <a:cxnLst/>
              <a:rect r="r" b="b" t="t" l="l"/>
              <a:pathLst>
                <a:path h="609559" w="1949304">
                  <a:moveTo>
                    <a:pt x="53347" y="0"/>
                  </a:moveTo>
                  <a:lnTo>
                    <a:pt x="1895957" y="0"/>
                  </a:lnTo>
                  <a:cubicBezTo>
                    <a:pt x="1910106" y="0"/>
                    <a:pt x="1923675" y="5621"/>
                    <a:pt x="1933679" y="15625"/>
                  </a:cubicBezTo>
                  <a:cubicBezTo>
                    <a:pt x="1943684" y="25630"/>
                    <a:pt x="1949304" y="39199"/>
                    <a:pt x="1949304" y="53347"/>
                  </a:cubicBezTo>
                  <a:lnTo>
                    <a:pt x="1949304" y="556211"/>
                  </a:lnTo>
                  <a:cubicBezTo>
                    <a:pt x="1949304" y="570360"/>
                    <a:pt x="1943684" y="583929"/>
                    <a:pt x="1933679" y="593934"/>
                  </a:cubicBezTo>
                  <a:cubicBezTo>
                    <a:pt x="1923675" y="603938"/>
                    <a:pt x="1910106" y="609559"/>
                    <a:pt x="1895957" y="609559"/>
                  </a:cubicBezTo>
                  <a:lnTo>
                    <a:pt x="53347" y="609559"/>
                  </a:lnTo>
                  <a:cubicBezTo>
                    <a:pt x="39199" y="609559"/>
                    <a:pt x="25630" y="603938"/>
                    <a:pt x="15625" y="593934"/>
                  </a:cubicBezTo>
                  <a:cubicBezTo>
                    <a:pt x="5621" y="583929"/>
                    <a:pt x="0" y="570360"/>
                    <a:pt x="0" y="556211"/>
                  </a:cubicBezTo>
                  <a:lnTo>
                    <a:pt x="0" y="53347"/>
                  </a:lnTo>
                  <a:cubicBezTo>
                    <a:pt x="0" y="39199"/>
                    <a:pt x="5621" y="25630"/>
                    <a:pt x="15625" y="15625"/>
                  </a:cubicBezTo>
                  <a:cubicBezTo>
                    <a:pt x="25630" y="5621"/>
                    <a:pt x="39199" y="0"/>
                    <a:pt x="53347" y="0"/>
                  </a:cubicBezTo>
                  <a:close/>
                </a:path>
              </a:pathLst>
            </a:custGeom>
            <a:solidFill>
              <a:srgbClr val="5E17EB"/>
            </a:solidFill>
          </p:spPr>
        </p:sp>
        <p:sp>
          <p:nvSpPr>
            <p:cNvPr name="TextBox 16" id="16"/>
            <p:cNvSpPr txBox="true"/>
            <p:nvPr/>
          </p:nvSpPr>
          <p:spPr>
            <a:xfrm>
              <a:off x="0" y="-9525"/>
              <a:ext cx="1949305" cy="619084"/>
            </a:xfrm>
            <a:prstGeom prst="rect">
              <a:avLst/>
            </a:prstGeom>
          </p:spPr>
          <p:txBody>
            <a:bodyPr anchor="ctr" rtlCol="false" tIns="50800" lIns="50800" bIns="50800" rIns="50800"/>
            <a:lstStyle/>
            <a:p>
              <a:pPr algn="ctr">
                <a:lnSpc>
                  <a:spcPts val="2220"/>
                </a:lnSpc>
              </a:pPr>
            </a:p>
          </p:txBody>
        </p:sp>
      </p:grpSp>
      <p:sp>
        <p:nvSpPr>
          <p:cNvPr name="TextBox 17" id="17"/>
          <p:cNvSpPr txBox="true"/>
          <p:nvPr/>
        </p:nvSpPr>
        <p:spPr>
          <a:xfrm rot="0">
            <a:off x="10084143" y="3832203"/>
            <a:ext cx="6729887" cy="1832609"/>
          </a:xfrm>
          <a:prstGeom prst="rect">
            <a:avLst/>
          </a:prstGeom>
        </p:spPr>
        <p:txBody>
          <a:bodyPr anchor="t" rtlCol="false" tIns="0" lIns="0" bIns="0" rIns="0">
            <a:spAutoFit/>
          </a:bodyPr>
          <a:lstStyle/>
          <a:p>
            <a:pPr algn="l">
              <a:lnSpc>
                <a:spcPts val="3600"/>
              </a:lnSpc>
            </a:pPr>
            <a:r>
              <a:rPr lang="en-US" sz="2400">
                <a:solidFill>
                  <a:srgbClr val="F5F7F8"/>
                </a:solidFill>
                <a:latin typeface="Poppins"/>
                <a:ea typeface="Poppins"/>
                <a:cs typeface="Poppins"/>
                <a:sym typeface="Poppins"/>
              </a:rPr>
              <a:t>Ambil data kategori “Depresi Ringan”. Jika terdapat lebih dari 1 data, ambil data yang paling besar. karena perintah OR identik dengan nilai maksimum</a:t>
            </a:r>
          </a:p>
        </p:txBody>
      </p:sp>
      <p:grpSp>
        <p:nvGrpSpPr>
          <p:cNvPr name="Group 18" id="18"/>
          <p:cNvGrpSpPr/>
          <p:nvPr/>
        </p:nvGrpSpPr>
        <p:grpSpPr>
          <a:xfrm rot="0">
            <a:off x="1028700" y="3794361"/>
            <a:ext cx="6793495" cy="671185"/>
            <a:chOff x="0" y="0"/>
            <a:chExt cx="1789233" cy="176773"/>
          </a:xfrm>
        </p:grpSpPr>
        <p:sp>
          <p:nvSpPr>
            <p:cNvPr name="Freeform 19" id="19"/>
            <p:cNvSpPr/>
            <p:nvPr/>
          </p:nvSpPr>
          <p:spPr>
            <a:xfrm flipH="false" flipV="false" rot="0">
              <a:off x="0" y="0"/>
              <a:ext cx="1789233" cy="176773"/>
            </a:xfrm>
            <a:custGeom>
              <a:avLst/>
              <a:gdLst/>
              <a:ahLst/>
              <a:cxnLst/>
              <a:rect r="r" b="b" t="t" l="l"/>
              <a:pathLst>
                <a:path h="176773" w="1789233">
                  <a:moveTo>
                    <a:pt x="58120" y="0"/>
                  </a:moveTo>
                  <a:lnTo>
                    <a:pt x="1731113" y="0"/>
                  </a:lnTo>
                  <a:cubicBezTo>
                    <a:pt x="1746528" y="0"/>
                    <a:pt x="1761311" y="6123"/>
                    <a:pt x="1772210" y="17023"/>
                  </a:cubicBezTo>
                  <a:cubicBezTo>
                    <a:pt x="1783110" y="27923"/>
                    <a:pt x="1789233" y="42706"/>
                    <a:pt x="1789233" y="58120"/>
                  </a:cubicBezTo>
                  <a:lnTo>
                    <a:pt x="1789233" y="118653"/>
                  </a:lnTo>
                  <a:cubicBezTo>
                    <a:pt x="1789233" y="150752"/>
                    <a:pt x="1763212" y="176773"/>
                    <a:pt x="1731113" y="176773"/>
                  </a:cubicBezTo>
                  <a:lnTo>
                    <a:pt x="58120" y="176773"/>
                  </a:lnTo>
                  <a:cubicBezTo>
                    <a:pt x="26021" y="176773"/>
                    <a:pt x="0" y="150752"/>
                    <a:pt x="0" y="118653"/>
                  </a:cubicBezTo>
                  <a:lnTo>
                    <a:pt x="0" y="58120"/>
                  </a:lnTo>
                  <a:cubicBezTo>
                    <a:pt x="0" y="26021"/>
                    <a:pt x="26021" y="0"/>
                    <a:pt x="58120" y="0"/>
                  </a:cubicBezTo>
                  <a:close/>
                </a:path>
              </a:pathLst>
            </a:custGeom>
            <a:solidFill>
              <a:srgbClr val="5E17EB">
                <a:alpha val="26667"/>
              </a:srgbClr>
            </a:solidFill>
          </p:spPr>
        </p:sp>
        <p:sp>
          <p:nvSpPr>
            <p:cNvPr name="TextBox 20" id="20"/>
            <p:cNvSpPr txBox="true"/>
            <p:nvPr/>
          </p:nvSpPr>
          <p:spPr>
            <a:xfrm>
              <a:off x="0" y="-9525"/>
              <a:ext cx="1789233" cy="186298"/>
            </a:xfrm>
            <a:prstGeom prst="rect">
              <a:avLst/>
            </a:prstGeom>
          </p:spPr>
          <p:txBody>
            <a:bodyPr anchor="ctr" rtlCol="false" tIns="50800" lIns="50800" bIns="50800" rIns="50800"/>
            <a:lstStyle/>
            <a:p>
              <a:pPr algn="ctr">
                <a:lnSpc>
                  <a:spcPts val="2220"/>
                </a:lnSpc>
              </a:pPr>
            </a:p>
          </p:txBody>
        </p:sp>
      </p:grpSp>
      <p:sp>
        <p:nvSpPr>
          <p:cNvPr name="TextBox 21" id="21"/>
          <p:cNvSpPr txBox="true"/>
          <p:nvPr/>
        </p:nvSpPr>
        <p:spPr>
          <a:xfrm rot="0">
            <a:off x="6789962" y="3949550"/>
            <a:ext cx="1032233" cy="360807"/>
          </a:xfrm>
          <a:prstGeom prst="rect">
            <a:avLst/>
          </a:prstGeom>
        </p:spPr>
        <p:txBody>
          <a:bodyPr anchor="t" rtlCol="false" tIns="0" lIns="0" bIns="0" rIns="0">
            <a:spAutoFit/>
          </a:bodyPr>
          <a:lstStyle/>
          <a:p>
            <a:pPr algn="l">
              <a:lnSpc>
                <a:spcPts val="2664"/>
              </a:lnSpc>
            </a:pPr>
            <a:r>
              <a:rPr lang="en-US" sz="2400">
                <a:solidFill>
                  <a:srgbClr val="000000"/>
                </a:solidFill>
                <a:latin typeface="Poppins"/>
                <a:ea typeface="Poppins"/>
                <a:cs typeface="Poppins"/>
                <a:sym typeface="Poppins"/>
              </a:rPr>
              <a:t>(0.8)</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7F8"/>
        </a:solidFill>
      </p:bgPr>
    </p:bg>
    <p:spTree>
      <p:nvGrpSpPr>
        <p:cNvPr id="1" name=""/>
        <p:cNvGrpSpPr/>
        <p:nvPr/>
      </p:nvGrpSpPr>
      <p:grpSpPr>
        <a:xfrm>
          <a:off x="0" y="0"/>
          <a:ext cx="0" cy="0"/>
          <a:chOff x="0" y="0"/>
          <a:chExt cx="0" cy="0"/>
        </a:xfrm>
      </p:grpSpPr>
      <p:sp>
        <p:nvSpPr>
          <p:cNvPr name="AutoShape 2" id="2"/>
          <p:cNvSpPr/>
          <p:nvPr/>
        </p:nvSpPr>
        <p:spPr>
          <a:xfrm>
            <a:off x="1028700" y="1047750"/>
            <a:ext cx="16230600" cy="0"/>
          </a:xfrm>
          <a:prstGeom prst="line">
            <a:avLst/>
          </a:prstGeom>
          <a:ln cap="flat" w="38100">
            <a:solidFill>
              <a:srgbClr val="737373"/>
            </a:solidFill>
            <a:prstDash val="solid"/>
            <a:headEnd type="none" len="sm" w="sm"/>
            <a:tailEnd type="none" len="sm" w="sm"/>
          </a:ln>
        </p:spPr>
      </p:sp>
      <p:sp>
        <p:nvSpPr>
          <p:cNvPr name="AutoShape 3" id="3"/>
          <p:cNvSpPr/>
          <p:nvPr/>
        </p:nvSpPr>
        <p:spPr>
          <a:xfrm>
            <a:off x="1028700" y="1904405"/>
            <a:ext cx="16230600" cy="0"/>
          </a:xfrm>
          <a:prstGeom prst="line">
            <a:avLst/>
          </a:prstGeom>
          <a:ln cap="flat" w="38100">
            <a:solidFill>
              <a:srgbClr val="737373"/>
            </a:solidFill>
            <a:prstDash val="solid"/>
            <a:headEnd type="none" len="sm" w="sm"/>
            <a:tailEnd type="none" len="sm" w="sm"/>
          </a:ln>
        </p:spPr>
      </p:sp>
      <p:sp>
        <p:nvSpPr>
          <p:cNvPr name="TextBox 4" id="4"/>
          <p:cNvSpPr txBox="true"/>
          <p:nvPr/>
        </p:nvSpPr>
        <p:spPr>
          <a:xfrm rot="0">
            <a:off x="1028700" y="1317043"/>
            <a:ext cx="3523480" cy="308610"/>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Pengertian</a:t>
            </a:r>
          </a:p>
        </p:txBody>
      </p:sp>
      <p:sp>
        <p:nvSpPr>
          <p:cNvPr name="TextBox 5" id="5"/>
          <p:cNvSpPr txBox="true"/>
          <p:nvPr/>
        </p:nvSpPr>
        <p:spPr>
          <a:xfrm rot="0">
            <a:off x="16125255" y="1317043"/>
            <a:ext cx="1134045" cy="308610"/>
          </a:xfrm>
          <a:prstGeom prst="rect">
            <a:avLst/>
          </a:prstGeom>
        </p:spPr>
        <p:txBody>
          <a:bodyPr anchor="t" rtlCol="false" tIns="0" lIns="0" bIns="0" rIns="0">
            <a:spAutoFit/>
          </a:bodyPr>
          <a:lstStyle/>
          <a:p>
            <a:pPr algn="r">
              <a:lnSpc>
                <a:spcPts val="2220"/>
              </a:lnSpc>
            </a:pPr>
            <a:r>
              <a:rPr lang="en-US" sz="2000" b="true">
                <a:solidFill>
                  <a:srgbClr val="5E17EB"/>
                </a:solidFill>
                <a:latin typeface="Poppins Bold"/>
                <a:ea typeface="Poppins Bold"/>
                <a:cs typeface="Poppins Bold"/>
                <a:sym typeface="Poppins Bold"/>
              </a:rPr>
              <a:t>2025</a:t>
            </a:r>
          </a:p>
        </p:txBody>
      </p:sp>
      <p:sp>
        <p:nvSpPr>
          <p:cNvPr name="TextBox 6" id="6"/>
          <p:cNvSpPr txBox="true"/>
          <p:nvPr/>
        </p:nvSpPr>
        <p:spPr>
          <a:xfrm rot="0">
            <a:off x="1028700" y="4128209"/>
            <a:ext cx="14111012" cy="4802505"/>
          </a:xfrm>
          <a:prstGeom prst="rect">
            <a:avLst/>
          </a:prstGeom>
        </p:spPr>
        <p:txBody>
          <a:bodyPr anchor="t" rtlCol="false" tIns="0" lIns="0" bIns="0" rIns="0">
            <a:spAutoFit/>
          </a:bodyPr>
          <a:lstStyle/>
          <a:p>
            <a:pPr algn="just">
              <a:lnSpc>
                <a:spcPts val="6300"/>
              </a:lnSpc>
            </a:pPr>
            <a:r>
              <a:rPr lang="en-US" sz="4200">
                <a:solidFill>
                  <a:srgbClr val="000000"/>
                </a:solidFill>
                <a:latin typeface="Poppins"/>
                <a:ea typeface="Poppins"/>
                <a:cs typeface="Poppins"/>
                <a:sym typeface="Poppins"/>
              </a:rPr>
              <a:t>adalah proses mengubah output fuzzy menjadi nilai crisp tunggal. Hal ini diperlukan untuk mendapatkan hasil yang dapat digunakan dalam dunia nyata. jadi untuk mengembalikan hasil fuzzy menjadi nilai numerik yang konkret, seperti dalam kendali sistem atau pengambilan keputusan.</a:t>
            </a:r>
          </a:p>
        </p:txBody>
      </p:sp>
      <p:sp>
        <p:nvSpPr>
          <p:cNvPr name="TextBox 7" id="7"/>
          <p:cNvSpPr txBox="true"/>
          <p:nvPr/>
        </p:nvSpPr>
        <p:spPr>
          <a:xfrm rot="0">
            <a:off x="1028700" y="3133799"/>
            <a:ext cx="7352391" cy="899160"/>
          </a:xfrm>
          <a:prstGeom prst="rect">
            <a:avLst/>
          </a:prstGeom>
        </p:spPr>
        <p:txBody>
          <a:bodyPr anchor="t" rtlCol="false" tIns="0" lIns="0" bIns="0" rIns="0">
            <a:spAutoFit/>
          </a:bodyPr>
          <a:lstStyle/>
          <a:p>
            <a:pPr algn="l">
              <a:lnSpc>
                <a:spcPts val="6719"/>
              </a:lnSpc>
            </a:pPr>
            <a:r>
              <a:rPr lang="en-US" sz="6999" spc="195">
                <a:solidFill>
                  <a:srgbClr val="5E17EB"/>
                </a:solidFill>
                <a:latin typeface="Alfa Slab One"/>
                <a:ea typeface="Alfa Slab One"/>
                <a:cs typeface="Alfa Slab One"/>
                <a:sym typeface="Alfa Slab One"/>
              </a:rPr>
              <a:t>Defuzzifikasi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sp>
        <p:nvSpPr>
          <p:cNvPr name="AutoShape 2" id="2"/>
          <p:cNvSpPr/>
          <p:nvPr/>
        </p:nvSpPr>
        <p:spPr>
          <a:xfrm>
            <a:off x="1028700" y="1047750"/>
            <a:ext cx="16230600" cy="0"/>
          </a:xfrm>
          <a:prstGeom prst="line">
            <a:avLst/>
          </a:prstGeom>
          <a:ln cap="flat" w="38100">
            <a:solidFill>
              <a:srgbClr val="737373"/>
            </a:solidFill>
            <a:prstDash val="solid"/>
            <a:headEnd type="none" len="sm" w="sm"/>
            <a:tailEnd type="none" len="sm" w="sm"/>
          </a:ln>
        </p:spPr>
      </p:sp>
      <p:sp>
        <p:nvSpPr>
          <p:cNvPr name="AutoShape 3" id="3"/>
          <p:cNvSpPr/>
          <p:nvPr/>
        </p:nvSpPr>
        <p:spPr>
          <a:xfrm>
            <a:off x="1028700" y="1904405"/>
            <a:ext cx="16230600" cy="0"/>
          </a:xfrm>
          <a:prstGeom prst="line">
            <a:avLst/>
          </a:prstGeom>
          <a:ln cap="flat" w="38100">
            <a:solidFill>
              <a:srgbClr val="737373"/>
            </a:solidFill>
            <a:prstDash val="solid"/>
            <a:headEnd type="none" len="sm" w="sm"/>
            <a:tailEnd type="none" len="sm" w="sm"/>
          </a:ln>
        </p:spPr>
      </p:sp>
      <p:sp>
        <p:nvSpPr>
          <p:cNvPr name="Freeform 4" id="4"/>
          <p:cNvSpPr/>
          <p:nvPr/>
        </p:nvSpPr>
        <p:spPr>
          <a:xfrm flipH="false" flipV="false" rot="0">
            <a:off x="1208780" y="2502276"/>
            <a:ext cx="10768818" cy="1442552"/>
          </a:xfrm>
          <a:custGeom>
            <a:avLst/>
            <a:gdLst/>
            <a:ahLst/>
            <a:cxnLst/>
            <a:rect r="r" b="b" t="t" l="l"/>
            <a:pathLst>
              <a:path h="1442552" w="10768818">
                <a:moveTo>
                  <a:pt x="0" y="0"/>
                </a:moveTo>
                <a:lnTo>
                  <a:pt x="10768818" y="0"/>
                </a:lnTo>
                <a:lnTo>
                  <a:pt x="10768818" y="1442552"/>
                </a:lnTo>
                <a:lnTo>
                  <a:pt x="0" y="1442552"/>
                </a:lnTo>
                <a:lnTo>
                  <a:pt x="0" y="0"/>
                </a:lnTo>
                <a:close/>
              </a:path>
            </a:pathLst>
          </a:custGeom>
          <a:blipFill>
            <a:blip r:embed="rId2"/>
            <a:stretch>
              <a:fillRect l="0" t="0" r="0" b="0"/>
            </a:stretch>
          </a:blipFill>
        </p:spPr>
      </p:sp>
      <p:sp>
        <p:nvSpPr>
          <p:cNvPr name="Freeform 5" id="5"/>
          <p:cNvSpPr/>
          <p:nvPr/>
        </p:nvSpPr>
        <p:spPr>
          <a:xfrm flipH="false" flipV="false" rot="0">
            <a:off x="1463033" y="4525853"/>
            <a:ext cx="9945171" cy="3363122"/>
          </a:xfrm>
          <a:custGeom>
            <a:avLst/>
            <a:gdLst/>
            <a:ahLst/>
            <a:cxnLst/>
            <a:rect r="r" b="b" t="t" l="l"/>
            <a:pathLst>
              <a:path h="3363122" w="9945171">
                <a:moveTo>
                  <a:pt x="0" y="0"/>
                </a:moveTo>
                <a:lnTo>
                  <a:pt x="9945171" y="0"/>
                </a:lnTo>
                <a:lnTo>
                  <a:pt x="9945171" y="3363122"/>
                </a:lnTo>
                <a:lnTo>
                  <a:pt x="0" y="3363122"/>
                </a:lnTo>
                <a:lnTo>
                  <a:pt x="0" y="0"/>
                </a:lnTo>
                <a:close/>
              </a:path>
            </a:pathLst>
          </a:custGeom>
          <a:blipFill>
            <a:blip r:embed="rId3"/>
            <a:stretch>
              <a:fillRect l="0" t="-13787" r="0" b="0"/>
            </a:stretch>
          </a:blipFill>
        </p:spPr>
      </p:sp>
      <p:sp>
        <p:nvSpPr>
          <p:cNvPr name="TextBox 6" id="6"/>
          <p:cNvSpPr txBox="true"/>
          <p:nvPr/>
        </p:nvSpPr>
        <p:spPr>
          <a:xfrm rot="0">
            <a:off x="1028700" y="1317043"/>
            <a:ext cx="3523480" cy="308610"/>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Defuzzifikasi</a:t>
            </a:r>
          </a:p>
        </p:txBody>
      </p:sp>
      <p:sp>
        <p:nvSpPr>
          <p:cNvPr name="TextBox 7" id="7"/>
          <p:cNvSpPr txBox="true"/>
          <p:nvPr/>
        </p:nvSpPr>
        <p:spPr>
          <a:xfrm rot="0">
            <a:off x="16125255" y="1317043"/>
            <a:ext cx="1134045" cy="308610"/>
          </a:xfrm>
          <a:prstGeom prst="rect">
            <a:avLst/>
          </a:prstGeom>
        </p:spPr>
        <p:txBody>
          <a:bodyPr anchor="t" rtlCol="false" tIns="0" lIns="0" bIns="0" rIns="0">
            <a:spAutoFit/>
          </a:bodyPr>
          <a:lstStyle/>
          <a:p>
            <a:pPr algn="r">
              <a:lnSpc>
                <a:spcPts val="2220"/>
              </a:lnSpc>
            </a:pPr>
            <a:r>
              <a:rPr lang="en-US" sz="2000" b="true">
                <a:solidFill>
                  <a:srgbClr val="5E17EB"/>
                </a:solidFill>
                <a:latin typeface="Poppins Bold"/>
                <a:ea typeface="Poppins Bold"/>
                <a:cs typeface="Poppins Bold"/>
                <a:sym typeface="Poppins Bold"/>
              </a:rPr>
              <a:t>2025</a:t>
            </a:r>
          </a:p>
        </p:txBody>
      </p:sp>
      <p:sp>
        <p:nvSpPr>
          <p:cNvPr name="TextBox 8" id="8"/>
          <p:cNvSpPr txBox="true"/>
          <p:nvPr/>
        </p:nvSpPr>
        <p:spPr>
          <a:xfrm rot="0">
            <a:off x="12135168" y="5542950"/>
            <a:ext cx="4714679" cy="664464"/>
          </a:xfrm>
          <a:prstGeom prst="rect">
            <a:avLst/>
          </a:prstGeom>
        </p:spPr>
        <p:txBody>
          <a:bodyPr anchor="t" rtlCol="false" tIns="0" lIns="0" bIns="0" rIns="0">
            <a:spAutoFit/>
          </a:bodyPr>
          <a:lstStyle/>
          <a:p>
            <a:pPr algn="l">
              <a:lnSpc>
                <a:spcPts val="2553"/>
              </a:lnSpc>
            </a:pPr>
            <a:r>
              <a:rPr lang="en-US" sz="2300" b="true">
                <a:solidFill>
                  <a:srgbClr val="000000"/>
                </a:solidFill>
                <a:latin typeface="Poppins Bold"/>
                <a:ea typeface="Poppins Bold"/>
                <a:cs typeface="Poppins Bold"/>
                <a:sym typeface="Poppins Bold"/>
              </a:rPr>
              <a:t>Intrepertasi :</a:t>
            </a:r>
          </a:p>
          <a:p>
            <a:pPr algn="l">
              <a:lnSpc>
                <a:spcPts val="2553"/>
              </a:lnSpc>
            </a:pPr>
            <a:r>
              <a:rPr lang="en-US" sz="2300" b="true">
                <a:solidFill>
                  <a:srgbClr val="000000"/>
                </a:solidFill>
                <a:latin typeface="Poppins Bold"/>
                <a:ea typeface="Poppins Bold"/>
                <a:cs typeface="Poppins Bold"/>
                <a:sym typeface="Poppins Bold"/>
              </a:rPr>
              <a:t>z* = 25.4 yaitu depresi sedang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7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8639" r="0" b="8639"/>
            <a:stretch>
              <a:fillRect/>
            </a:stretch>
          </p:blipFill>
          <p:spPr>
            <a:xfrm flipH="false" flipV="false">
              <a:off x="0" y="0"/>
              <a:ext cx="24384000" cy="13716000"/>
            </a:xfrm>
            <a:prstGeom prst="rect">
              <a:avLst/>
            </a:prstGeom>
          </p:spPr>
        </p:pic>
      </p:grpSp>
      <p:grpSp>
        <p:nvGrpSpPr>
          <p:cNvPr name="Group 4" id="4"/>
          <p:cNvGrpSpPr/>
          <p:nvPr/>
        </p:nvGrpSpPr>
        <p:grpSpPr>
          <a:xfrm rot="0">
            <a:off x="533869" y="558998"/>
            <a:ext cx="17220262" cy="9169003"/>
            <a:chOff x="0" y="0"/>
            <a:chExt cx="4535378" cy="2414882"/>
          </a:xfrm>
        </p:grpSpPr>
        <p:sp>
          <p:nvSpPr>
            <p:cNvPr name="Freeform 5" id="5"/>
            <p:cNvSpPr/>
            <p:nvPr/>
          </p:nvSpPr>
          <p:spPr>
            <a:xfrm flipH="false" flipV="false" rot="0">
              <a:off x="0" y="0"/>
              <a:ext cx="4535378" cy="2414881"/>
            </a:xfrm>
            <a:custGeom>
              <a:avLst/>
              <a:gdLst/>
              <a:ahLst/>
              <a:cxnLst/>
              <a:rect r="r" b="b" t="t" l="l"/>
              <a:pathLst>
                <a:path h="2414881" w="4535378">
                  <a:moveTo>
                    <a:pt x="22929" y="0"/>
                  </a:moveTo>
                  <a:lnTo>
                    <a:pt x="4512449" y="0"/>
                  </a:lnTo>
                  <a:cubicBezTo>
                    <a:pt x="4518530" y="0"/>
                    <a:pt x="4524362" y="2416"/>
                    <a:pt x="4528662" y="6716"/>
                  </a:cubicBezTo>
                  <a:cubicBezTo>
                    <a:pt x="4532962" y="11016"/>
                    <a:pt x="4535378" y="16848"/>
                    <a:pt x="4535378" y="22929"/>
                  </a:cubicBezTo>
                  <a:lnTo>
                    <a:pt x="4535378" y="2391953"/>
                  </a:lnTo>
                  <a:cubicBezTo>
                    <a:pt x="4535378" y="2398034"/>
                    <a:pt x="4532962" y="2403866"/>
                    <a:pt x="4528662" y="2408166"/>
                  </a:cubicBezTo>
                  <a:cubicBezTo>
                    <a:pt x="4524362" y="2412466"/>
                    <a:pt x="4518530" y="2414881"/>
                    <a:pt x="4512449" y="2414881"/>
                  </a:cubicBezTo>
                  <a:lnTo>
                    <a:pt x="22929" y="2414881"/>
                  </a:lnTo>
                  <a:cubicBezTo>
                    <a:pt x="16848" y="2414881"/>
                    <a:pt x="11016" y="2412466"/>
                    <a:pt x="6716" y="2408166"/>
                  </a:cubicBezTo>
                  <a:cubicBezTo>
                    <a:pt x="2416" y="2403866"/>
                    <a:pt x="0" y="2398034"/>
                    <a:pt x="0" y="2391953"/>
                  </a:cubicBezTo>
                  <a:lnTo>
                    <a:pt x="0" y="22929"/>
                  </a:lnTo>
                  <a:cubicBezTo>
                    <a:pt x="0" y="16848"/>
                    <a:pt x="2416" y="11016"/>
                    <a:pt x="6716" y="6716"/>
                  </a:cubicBezTo>
                  <a:cubicBezTo>
                    <a:pt x="11016" y="2416"/>
                    <a:pt x="16848" y="0"/>
                    <a:pt x="22929" y="0"/>
                  </a:cubicBezTo>
                  <a:close/>
                </a:path>
              </a:pathLst>
            </a:custGeom>
            <a:solidFill>
              <a:srgbClr val="FFFFFF"/>
            </a:solidFill>
          </p:spPr>
        </p:sp>
        <p:sp>
          <p:nvSpPr>
            <p:cNvPr name="TextBox 6" id="6"/>
            <p:cNvSpPr txBox="true"/>
            <p:nvPr/>
          </p:nvSpPr>
          <p:spPr>
            <a:xfrm>
              <a:off x="0" y="-66675"/>
              <a:ext cx="4535378" cy="2481557"/>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0">
            <a:off x="1665221" y="2707183"/>
            <a:ext cx="14957558" cy="5729288"/>
            <a:chOff x="0" y="0"/>
            <a:chExt cx="3939439" cy="1508948"/>
          </a:xfrm>
        </p:grpSpPr>
        <p:sp>
          <p:nvSpPr>
            <p:cNvPr name="Freeform 8" id="8"/>
            <p:cNvSpPr/>
            <p:nvPr/>
          </p:nvSpPr>
          <p:spPr>
            <a:xfrm flipH="false" flipV="false" rot="0">
              <a:off x="0" y="0"/>
              <a:ext cx="3939439" cy="1508948"/>
            </a:xfrm>
            <a:custGeom>
              <a:avLst/>
              <a:gdLst/>
              <a:ahLst/>
              <a:cxnLst/>
              <a:rect r="r" b="b" t="t" l="l"/>
              <a:pathLst>
                <a:path h="1508948" w="3939439">
                  <a:moveTo>
                    <a:pt x="26397" y="0"/>
                  </a:moveTo>
                  <a:lnTo>
                    <a:pt x="3913042" y="0"/>
                  </a:lnTo>
                  <a:cubicBezTo>
                    <a:pt x="3920043" y="0"/>
                    <a:pt x="3926757" y="2781"/>
                    <a:pt x="3931707" y="7732"/>
                  </a:cubicBezTo>
                  <a:cubicBezTo>
                    <a:pt x="3936658" y="12682"/>
                    <a:pt x="3939439" y="19396"/>
                    <a:pt x="3939439" y="26397"/>
                  </a:cubicBezTo>
                  <a:lnTo>
                    <a:pt x="3939439" y="1482551"/>
                  </a:lnTo>
                  <a:cubicBezTo>
                    <a:pt x="3939439" y="1489552"/>
                    <a:pt x="3936658" y="1496266"/>
                    <a:pt x="3931707" y="1501217"/>
                  </a:cubicBezTo>
                  <a:cubicBezTo>
                    <a:pt x="3926757" y="1506167"/>
                    <a:pt x="3920043" y="1508948"/>
                    <a:pt x="3913042" y="1508948"/>
                  </a:cubicBezTo>
                  <a:lnTo>
                    <a:pt x="26397" y="1508948"/>
                  </a:lnTo>
                  <a:cubicBezTo>
                    <a:pt x="11818" y="1508948"/>
                    <a:pt x="0" y="1497130"/>
                    <a:pt x="0" y="1482551"/>
                  </a:cubicBezTo>
                  <a:lnTo>
                    <a:pt x="0" y="26397"/>
                  </a:lnTo>
                  <a:cubicBezTo>
                    <a:pt x="0" y="19396"/>
                    <a:pt x="2781" y="12682"/>
                    <a:pt x="7732" y="7732"/>
                  </a:cubicBezTo>
                  <a:cubicBezTo>
                    <a:pt x="12682" y="2781"/>
                    <a:pt x="19396" y="0"/>
                    <a:pt x="26397" y="0"/>
                  </a:cubicBezTo>
                  <a:close/>
                </a:path>
              </a:pathLst>
            </a:custGeom>
            <a:solidFill>
              <a:srgbClr val="000000">
                <a:alpha val="0"/>
              </a:srgbClr>
            </a:solidFill>
            <a:ln w="38100" cap="rnd">
              <a:solidFill>
                <a:srgbClr val="000000"/>
              </a:solidFill>
              <a:prstDash val="solid"/>
              <a:round/>
            </a:ln>
          </p:spPr>
        </p:sp>
        <p:sp>
          <p:nvSpPr>
            <p:cNvPr name="TextBox 9" id="9"/>
            <p:cNvSpPr txBox="true"/>
            <p:nvPr/>
          </p:nvSpPr>
          <p:spPr>
            <a:xfrm>
              <a:off x="0" y="-66675"/>
              <a:ext cx="3939439" cy="1575623"/>
            </a:xfrm>
            <a:prstGeom prst="rect">
              <a:avLst/>
            </a:prstGeom>
          </p:spPr>
          <p:txBody>
            <a:bodyPr anchor="ctr" rtlCol="false" tIns="50800" lIns="50800" bIns="50800" rIns="50800"/>
            <a:lstStyle/>
            <a:p>
              <a:pPr algn="ctr">
                <a:lnSpc>
                  <a:spcPts val="3639"/>
                </a:lnSpc>
              </a:pPr>
            </a:p>
          </p:txBody>
        </p:sp>
      </p:grpSp>
      <p:sp>
        <p:nvSpPr>
          <p:cNvPr name="AutoShape 10" id="10"/>
          <p:cNvSpPr/>
          <p:nvPr/>
        </p:nvSpPr>
        <p:spPr>
          <a:xfrm>
            <a:off x="1028700" y="1047750"/>
            <a:ext cx="16230600" cy="0"/>
          </a:xfrm>
          <a:prstGeom prst="line">
            <a:avLst/>
          </a:prstGeom>
          <a:ln cap="flat" w="38100">
            <a:solidFill>
              <a:srgbClr val="737373"/>
            </a:solidFill>
            <a:prstDash val="solid"/>
            <a:headEnd type="none" len="sm" w="sm"/>
            <a:tailEnd type="none" len="sm" w="sm"/>
          </a:ln>
        </p:spPr>
      </p:sp>
      <p:sp>
        <p:nvSpPr>
          <p:cNvPr name="AutoShape 11" id="11"/>
          <p:cNvSpPr/>
          <p:nvPr/>
        </p:nvSpPr>
        <p:spPr>
          <a:xfrm>
            <a:off x="1028700" y="1904405"/>
            <a:ext cx="16230600" cy="0"/>
          </a:xfrm>
          <a:prstGeom prst="line">
            <a:avLst/>
          </a:prstGeom>
          <a:ln cap="flat" w="38100">
            <a:solidFill>
              <a:srgbClr val="737373"/>
            </a:solidFill>
            <a:prstDash val="solid"/>
            <a:headEnd type="none" len="sm" w="sm"/>
            <a:tailEnd type="none" len="sm" w="sm"/>
          </a:ln>
        </p:spPr>
      </p:sp>
      <p:sp>
        <p:nvSpPr>
          <p:cNvPr name="AutoShape 12" id="12"/>
          <p:cNvSpPr/>
          <p:nvPr/>
        </p:nvSpPr>
        <p:spPr>
          <a:xfrm>
            <a:off x="1028700" y="9239250"/>
            <a:ext cx="16230600" cy="0"/>
          </a:xfrm>
          <a:prstGeom prst="line">
            <a:avLst/>
          </a:prstGeom>
          <a:ln cap="flat" w="38100">
            <a:solidFill>
              <a:srgbClr val="737373"/>
            </a:solidFill>
            <a:prstDash val="solid"/>
            <a:headEnd type="none" len="sm" w="sm"/>
            <a:tailEnd type="none" len="sm" w="sm"/>
          </a:ln>
        </p:spPr>
      </p:sp>
      <p:sp>
        <p:nvSpPr>
          <p:cNvPr name="TextBox 13" id="13"/>
          <p:cNvSpPr txBox="true"/>
          <p:nvPr/>
        </p:nvSpPr>
        <p:spPr>
          <a:xfrm rot="0">
            <a:off x="1028700" y="1317043"/>
            <a:ext cx="3523480" cy="308544"/>
          </a:xfrm>
          <a:prstGeom prst="rect">
            <a:avLst/>
          </a:prstGeom>
        </p:spPr>
        <p:txBody>
          <a:bodyPr anchor="t" rtlCol="false" tIns="0" lIns="0" bIns="0" rIns="0">
            <a:spAutoFit/>
          </a:bodyPr>
          <a:lstStyle/>
          <a:p>
            <a:pPr algn="l">
              <a:lnSpc>
                <a:spcPts val="2220"/>
              </a:lnSpc>
            </a:pPr>
            <a:r>
              <a:rPr lang="en-US" sz="2000">
                <a:solidFill>
                  <a:srgbClr val="000000"/>
                </a:solidFill>
                <a:latin typeface="Poppins"/>
                <a:ea typeface="Poppins"/>
                <a:cs typeface="Poppins"/>
                <a:sym typeface="Poppins"/>
              </a:rPr>
              <a:t>Kecerdasan Buatan</a:t>
            </a:r>
          </a:p>
        </p:txBody>
      </p:sp>
      <p:sp>
        <p:nvSpPr>
          <p:cNvPr name="TextBox 14" id="14"/>
          <p:cNvSpPr txBox="true"/>
          <p:nvPr/>
        </p:nvSpPr>
        <p:spPr>
          <a:xfrm rot="0">
            <a:off x="16125255" y="1317043"/>
            <a:ext cx="1134045" cy="584835"/>
          </a:xfrm>
          <a:prstGeom prst="rect">
            <a:avLst/>
          </a:prstGeom>
        </p:spPr>
        <p:txBody>
          <a:bodyPr anchor="t" rtlCol="false" tIns="0" lIns="0" bIns="0" rIns="0">
            <a:spAutoFit/>
          </a:bodyPr>
          <a:lstStyle/>
          <a:p>
            <a:pPr algn="r">
              <a:lnSpc>
                <a:spcPts val="2220"/>
              </a:lnSpc>
            </a:pPr>
            <a:r>
              <a:rPr lang="en-US" sz="2000" b="true">
                <a:solidFill>
                  <a:srgbClr val="5E17EB"/>
                </a:solidFill>
                <a:latin typeface="Poppins Bold"/>
                <a:ea typeface="Poppins Bold"/>
                <a:cs typeface="Poppins Bold"/>
                <a:sym typeface="Poppins Bold"/>
              </a:rPr>
              <a:t>2025</a:t>
            </a:r>
          </a:p>
          <a:p>
            <a:pPr algn="r">
              <a:lnSpc>
                <a:spcPts val="2220"/>
              </a:lnSpc>
            </a:pPr>
          </a:p>
        </p:txBody>
      </p:sp>
      <p:sp>
        <p:nvSpPr>
          <p:cNvPr name="TextBox 15" id="15"/>
          <p:cNvSpPr txBox="true"/>
          <p:nvPr/>
        </p:nvSpPr>
        <p:spPr>
          <a:xfrm rot="0">
            <a:off x="3173506" y="4055629"/>
            <a:ext cx="11471551" cy="1898456"/>
          </a:xfrm>
          <a:prstGeom prst="rect">
            <a:avLst/>
          </a:prstGeom>
        </p:spPr>
        <p:txBody>
          <a:bodyPr anchor="t" rtlCol="false" tIns="0" lIns="0" bIns="0" rIns="0">
            <a:spAutoFit/>
          </a:bodyPr>
          <a:lstStyle/>
          <a:p>
            <a:pPr algn="ctr">
              <a:lnSpc>
                <a:spcPts val="7295"/>
              </a:lnSpc>
            </a:pPr>
            <a:r>
              <a:rPr lang="en-US" sz="7599" spc="212">
                <a:solidFill>
                  <a:srgbClr val="5E17EB"/>
                </a:solidFill>
                <a:latin typeface="Alfa Slab One"/>
                <a:ea typeface="Alfa Slab One"/>
                <a:cs typeface="Alfa Slab One"/>
                <a:sym typeface="Alfa Slab One"/>
              </a:rPr>
              <a:t>Terima Kasih Atas Perhatiannya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DAG3iqUXao4</dc:identifier>
  <dcterms:modified xsi:type="dcterms:W3CDTF">2011-08-01T06:04:30Z</dcterms:modified>
  <cp:revision>1</cp:revision>
  <dc:title>Biru Simpel Modern Kecerdasan Buatan Presentation</dc:title>
</cp:coreProperties>
</file>